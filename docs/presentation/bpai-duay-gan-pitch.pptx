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9.jpeg" ContentType="image/jpeg"/>
  <Override PartName="/ppt/media/image16.png" ContentType="image/png"/>
  <Override PartName="/ppt/media/image7.png" ContentType="image/png"/>
  <Override PartName="/ppt/media/image11.png" ContentType="image/png"/>
  <Override PartName="/ppt/media/image2.png" ContentType="image/png"/>
  <Override PartName="/ppt/media/image17.png" ContentType="image/png"/>
  <Override PartName="/ppt/media/image8.png" ContentType="image/png"/>
  <Override PartName="/ppt/media/image3.png" ContentType="image/png"/>
  <Override PartName="/ppt/media/image12.png" ContentType="image/png"/>
  <Override PartName="/ppt/media/image20.png" ContentType="image/png"/>
  <Override PartName="/ppt/media/image9.png" ContentType="image/png"/>
  <Override PartName="/ppt/media/image4.png" ContentType="image/png"/>
  <Override PartName="/ppt/media/image13.png" ContentType="image/png"/>
  <Override PartName="/ppt/media/image30.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jpeg" ContentType="image/jpeg"/>
  <Override PartName="/ppt/media/image19.png" ContentType="image/png"/>
  <Override PartName="/ppt/media/image21.png" ContentType="image/png"/>
  <Override PartName="/ppt/media/image22.png" ContentType="image/png"/>
  <Override PartName="/ppt/media/image23.png" ContentType="image/png"/>
  <Override PartName="/ppt/media/image24.png" ContentType="image/png"/>
  <Override PartName="/ppt/media/image25.png" ContentType="image/png"/>
  <Override PartName="/ppt/media/image26.png" ContentType="image/png"/>
  <Override PartName="/ppt/media/image27.png" ContentType="image/png"/>
  <Override PartName="/ppt/media/image18.png" ContentType="image/png"/>
  <Override PartName="/ppt/media/image28.jpeg" ContentType="image/jpeg"/>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a:t>
            </a:r>
            <a:r>
              <a:rPr b="0" lang="en-US" sz="4400" spc="-1" strike="noStrike">
                <a:solidFill>
                  <a:srgbClr val="000000"/>
                </a:solidFill>
                <a:latin typeface="Arial"/>
              </a:rPr>
              <a:t>the slide</a:t>
            </a:r>
            <a:endParaRPr b="0" lang="en-US" sz="4400" spc="-1" strike="noStrike">
              <a:solidFill>
                <a:srgbClr val="000000"/>
              </a:solidFill>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51FEA0A5-EF76-4686-A2A0-22202C27E71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sldImg"/>
          </p:nvPr>
        </p:nvSpPr>
        <p:spPr>
          <a:xfrm>
            <a:off x="685800" y="1143000"/>
            <a:ext cx="5485680" cy="3085560"/>
          </a:xfrm>
          <a:prstGeom prst="rect">
            <a:avLst/>
          </a:prstGeom>
          <a:ln w="0">
            <a:noFill/>
          </a:ln>
        </p:spPr>
      </p:sp>
      <p:sp>
        <p:nvSpPr>
          <p:cNvPr id="22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[~45s · STORY: your why] Sawasdee ka. Let me start with a confession. When I moved to Chiang Mai with my family, I really struggled. I had no Thai friends, I couldn't read the signs, and after a few years I was so frustrated I was ready to pack up and move to Uruguay. Instead, I stayed and started a business here. And that business is what finally opened the door: my Thai team, my neighbours, being invited to temple festivals, learning Thai. It brings me so much joy. But it took me years. It shouldn't take anyone years. That's why we built Bpai Duay Gan, </a:t>
            </a:r>
            <a:r>
              <a:rPr b="0" lang="hi-IN" sz="2000" spc="-1" strike="noStrike">
                <a:solidFill>
                  <a:srgbClr val="000000"/>
                </a:solidFill>
                <a:latin typeface="Arial"/>
              </a:rPr>
              <a:t>ไปด้วยกัน</a:t>
            </a:r>
            <a:r>
              <a:rPr b="0" lang="en-US" sz="2000" spc="-1" strike="noStrike">
                <a:solidFill>
                  <a:srgbClr val="000000"/>
                </a:solidFill>
                <a:latin typeface="Arial"/>
              </a:rPr>
              <a:t>: let's go together.</a:t>
            </a:r>
            <a:endParaRPr b="0" lang="en-US" sz="2000" spc="-1" strike="noStrike">
              <a:solidFill>
                <a:srgbClr val="000000"/>
              </a:solidFill>
              <a:latin typeface="Arial"/>
            </a:endParaRPr>
          </a:p>
        </p:txBody>
      </p:sp>
      <p:sp>
        <p:nvSpPr>
          <p:cNvPr id="230"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6CB08B2-071A-4E3A-9944-448619770B4F}"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sldImg"/>
          </p:nvPr>
        </p:nvSpPr>
        <p:spPr>
          <a:xfrm>
            <a:off x="685800" y="1143000"/>
            <a:ext cx="5485680" cy="3085560"/>
          </a:xfrm>
          <a:prstGeom prst="rect">
            <a:avLst/>
          </a:prstGeom>
          <a:ln w="0">
            <a:noFill/>
          </a:ln>
        </p:spPr>
      </p:sp>
      <p:sp>
        <p:nvSpPr>
          <p:cNvPr id="23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[~40s · THE PROBLEM] Chiang Mai is one of the great melting pots of the world. Thousands of people from everywhere, with every kind of skill, living right next to a proud Lanna and Thai culture. And yet the two worlds rarely meet. Foreigners want to connect with locals and learn the culture, whether they're here for a week or two years. Many Thais would love to share their food, their language, their city. But when we meet, what do we talk about? Meeting someone isn't enough. You need something in common. Say I love yoga and meditation, and I can teach English or help someone sell their products online. If I could put that out there, now a Thai friend and I have a reason to meet. And no one is forced: it's opt-in on both sides, only people who want to connect.</a:t>
            </a:r>
            <a:endParaRPr b="0" lang="en-US" sz="2000" spc="-1" strike="noStrike">
              <a:solidFill>
                <a:srgbClr val="000000"/>
              </a:solidFill>
              <a:latin typeface="Arial"/>
            </a:endParaRPr>
          </a:p>
        </p:txBody>
      </p:sp>
      <p:sp>
        <p:nvSpPr>
          <p:cNvPr id="233"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BDE9D6D-9F15-4678-92DA-B609982643B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PlaceHolder 1"/>
          <p:cNvSpPr>
            <a:spLocks noGrp="1"/>
          </p:cNvSpPr>
          <p:nvPr>
            <p:ph type="sldImg"/>
          </p:nvPr>
        </p:nvSpPr>
        <p:spPr>
          <a:xfrm>
            <a:off x="216000" y="812520"/>
            <a:ext cx="7126920" cy="4008600"/>
          </a:xfrm>
          <a:prstGeom prst="rect">
            <a:avLst/>
          </a:prstGeom>
          <a:ln w="0">
            <a:noFill/>
          </a:ln>
        </p:spPr>
      </p:sp>
      <p:sp>
        <p:nvSpPr>
          <p:cNvPr id="235"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[~25s · THE HIDDEN PROBLEM] And this isn't just my story. The World Health Organization says 1 in 6 people worldwide are lonely, and it names migrants among the groups who find it hardest to connect. Here in the expat world, 40% say it's hard to make local friends. But here's what surprised me: in the same survey, expats rank Thai people the friendliest in the world. The friendship is there. What's missing is the bridge. [Sources: WHO Commission on Social Connection, June 2025; InterNations Expat Insider 2026.]</a:t>
            </a:r>
            <a:endParaRPr b="0" lang="en-US" sz="2000" spc="-1" strike="noStrike">
              <a:solidFill>
                <a:srgbClr val="000000"/>
              </a:solidFill>
              <a:latin typeface="Arial"/>
            </a:endParaRPr>
          </a:p>
        </p:txBody>
      </p:sp>
      <p:sp>
        <p:nvSpPr>
          <p:cNvPr id="236" name="PlaceHolder 3"/>
          <p:cNvSpPr>
            <a:spLocks noGrp="1"/>
          </p:cNvSpPr>
          <p:nvPr>
            <p:ph type="sldNum" idx="6"/>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A353DFF2-4525-4A32-BC9F-10462F2F64EB}"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685800" y="1143000"/>
            <a:ext cx="5485680" cy="3085560"/>
          </a:xfrm>
          <a:prstGeom prst="rect">
            <a:avLst/>
          </a:prstGeom>
          <a:ln w="0">
            <a:noFill/>
          </a:ln>
        </p:spPr>
      </p:sp>
      <p:sp>
        <p:nvSpPr>
          <p:cNvPr id="23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[~20s · THE VISION] This is what we want to create. Not swiping. Doing. Cleaning up a temple together. Cooking side by side. Making eco products at a workshop. Joining a game of sepak takraw. Language exchange, Muay Thai, weaving, scooter lessons, night markets. Every one of these starts with two people who have something to give each other.</a:t>
            </a:r>
            <a:endParaRPr b="0" lang="en-US" sz="2000" spc="-1" strike="noStrike">
              <a:solidFill>
                <a:srgbClr val="000000"/>
              </a:solidFill>
              <a:latin typeface="Arial"/>
            </a:endParaRPr>
          </a:p>
        </p:txBody>
      </p:sp>
      <p:sp>
        <p:nvSpPr>
          <p:cNvPr id="239"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BB3F3503-19B6-42D1-9736-4FA5D7D732C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685800" y="1143000"/>
            <a:ext cx="5485680" cy="3085560"/>
          </a:xfrm>
          <a:prstGeom prst="rect">
            <a:avLst/>
          </a:prstGeom>
          <a:ln w="0">
            <a:noFill/>
          </a:ln>
        </p:spPr>
      </p:sp>
      <p:sp>
        <p:nvSpPr>
          <p:cNvPr id="24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[~25s · THE BUSINESS SIDE] And it's not only about fun. Meet Khun Nok. She makes beautiful Thai handmade products and she knows Shopee and Lazada inside out. And meet Wendy. She's new to Thailand and she knows how to sell on Amazon. On Bpai Duay Gan they find each other through the Business and digital tags, and they swap know-how. Now both of them sell on both platforms. That's how local Thai products reach global markets, one connection at a time.</a:t>
            </a:r>
            <a:endParaRPr b="0" lang="en-US" sz="2000" spc="-1" strike="noStrike">
              <a:solidFill>
                <a:srgbClr val="000000"/>
              </a:solidFill>
              <a:latin typeface="Arial"/>
            </a:endParaRPr>
          </a:p>
        </p:txBody>
      </p:sp>
      <p:sp>
        <p:nvSpPr>
          <p:cNvPr id="242"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45923E5-2624-437E-945F-FC1070840596}"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685800" y="1143000"/>
            <a:ext cx="5485680" cy="3085560"/>
          </a:xfrm>
          <a:prstGeom prst="rect">
            <a:avLst/>
          </a:prstGeom>
          <a:ln w="0">
            <a:noFill/>
          </a:ln>
        </p:spPr>
      </p:sp>
      <p:sp>
        <p:nvSpPr>
          <p:cNvPr id="24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[~20s · THE APP] So how does it work? It's simple. You choose Thai or English, the whole app works in both. You say whether you're a Thai local or from abroad. You pick what you can share, and what you'd like to learn. And you tell people about yourself in your own words, in your own language. Under a minute.</a:t>
            </a:r>
            <a:endParaRPr b="0" lang="en-US" sz="2000" spc="-1" strike="noStrike">
              <a:solidFill>
                <a:srgbClr val="000000"/>
              </a:solidFill>
              <a:latin typeface="Arial"/>
            </a:endParaRPr>
          </a:p>
        </p:txBody>
      </p:sp>
      <p:sp>
        <p:nvSpPr>
          <p:cNvPr id="245"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97B28743-DA68-472D-994D-6E02770EC0D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685800" y="1143000"/>
            <a:ext cx="5485680" cy="3085560"/>
          </a:xfrm>
          <a:prstGeom prst="rect">
            <a:avLst/>
          </a:prstGeom>
          <a:ln w="0">
            <a:noFill/>
          </a:ln>
        </p:spPr>
      </p:sp>
      <p:sp>
        <p:nvSpPr>
          <p:cNvPr id="24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[~60–90s · TRY IT] But don't take my word for it. Let's try it and see how easy it is. Take out your phones and scan the code. [Pause while people scan.] While you're joining, let me show you live. [Click Live demo.] I'll ask to connect with someone who's going to the same event. On the other side, they see the request, with the event as the reason. They accept, and the chat opens. [Backup if wifi fails: play Marc's recording.]</a:t>
            </a:r>
            <a:endParaRPr b="0" lang="en-US" sz="2000" spc="-1" strike="noStrike">
              <a:solidFill>
                <a:srgbClr val="000000"/>
              </a:solidFill>
              <a:latin typeface="Arial"/>
            </a:endParaRPr>
          </a:p>
        </p:txBody>
      </p:sp>
      <p:sp>
        <p:nvSpPr>
          <p:cNvPr id="248"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58AA022A-FFD6-4C07-BED6-E808F7B729C8}"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685800" y="1143000"/>
            <a:ext cx="5485680" cy="3085560"/>
          </a:xfrm>
          <a:prstGeom prst="rect">
            <a:avLst/>
          </a:prstGeom>
          <a:ln w="0">
            <a:noFill/>
          </a:ln>
        </p:spPr>
      </p:sp>
      <p:sp>
        <p:nvSpPr>
          <p:cNvPr id="25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[~40s · WHY WE'RE DIFFERENT] Now, you might ask: isn't this Meetup, or Tandem, or Bumble BFF? Those weren't built for Thai people. We have a Thai name, we work in Thai and English, and we are not a dating app. Here is the part I'm most excited about. We find events from the nomad and local platforms and translate them into Thai. Then we email every organiser a few quick questions. Is there Thai food? Is there a Thai translator, like at the Marriott? Is it TCEB endorsed? Their answers become a Thai-friendly badge, </a:t>
            </a:r>
            <a:r>
              <a:rPr b="0" lang="hi-IN" sz="2000" spc="-1" strike="noStrike">
                <a:solidFill>
                  <a:srgbClr val="000000"/>
                </a:solidFill>
                <a:latin typeface="Arial"/>
              </a:rPr>
              <a:t>เป็นมิตรกับคนไทย</a:t>
            </a:r>
            <a:r>
              <a:rPr b="0" lang="en-US" sz="2000" spc="-1" strike="noStrike">
                <a:solidFill>
                  <a:srgbClr val="000000"/>
                </a:solidFill>
                <a:latin typeface="Arial"/>
              </a:rPr>
              <a:t>. So a Thai person can see at a glance: this event is for me too. [Say "this is how it works" or "this is what we're building next" if it isn't live yet.]</a:t>
            </a:r>
            <a:endParaRPr b="0" lang="en-US" sz="2000" spc="-1" strike="noStrike">
              <a:solidFill>
                <a:srgbClr val="000000"/>
              </a:solidFill>
              <a:latin typeface="Arial"/>
            </a:endParaRPr>
          </a:p>
        </p:txBody>
      </p:sp>
      <p:sp>
        <p:nvSpPr>
          <p:cNvPr id="251"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C9816518-DA89-4015-B6FE-4E321BEE99E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685800" y="1143000"/>
            <a:ext cx="5485680" cy="3085560"/>
          </a:xfrm>
          <a:prstGeom prst="rect">
            <a:avLst/>
          </a:prstGeom>
          <a:ln w="0">
            <a:noFill/>
          </a:ln>
        </p:spPr>
      </p:sp>
      <p:sp>
        <p:nvSpPr>
          <p:cNvPr id="25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[~30s · THE MAGIC MOMENT] And here's the moment that makes it work. Sam writes in English: "See you at the workshop on Saturday?" Nok reads natural, polite Thai, with the right ending, </a:t>
            </a:r>
            <a:r>
              <a:rPr b="0" lang="hi-IN" sz="2000" spc="-1" strike="noStrike">
                <a:solidFill>
                  <a:srgbClr val="000000"/>
                </a:solidFill>
                <a:latin typeface="Arial"/>
              </a:rPr>
              <a:t>ครับ</a:t>
            </a:r>
            <a:r>
              <a:rPr b="0" lang="en-US" sz="2000" spc="-1" strike="noStrike">
                <a:solidFill>
                  <a:srgbClr val="000000"/>
                </a:solidFill>
                <a:latin typeface="Arial"/>
              </a:rPr>
              <a:t>. She replies in Thai, and he reads English. Tap the message and you see the original. Now, we could have built another translator app, but anyone can do that with ChatGPT, and Thailand already uses AI more than almost anywhere. Translation is not the point. It just gets the first conversation started. Then you meet in person, and that's where the real learning happens.</a:t>
            </a:r>
            <a:endParaRPr b="0" lang="en-US" sz="2000" spc="-1" strike="noStrike">
              <a:solidFill>
                <a:srgbClr val="000000"/>
              </a:solidFill>
              <a:latin typeface="Arial"/>
            </a:endParaRPr>
          </a:p>
        </p:txBody>
      </p:sp>
      <p:sp>
        <p:nvSpPr>
          <p:cNvPr id="254"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063BCCF7-A87C-4DC2-9A8C-C5BAF876AB4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685800" y="1143000"/>
            <a:ext cx="5485680" cy="3085560"/>
          </a:xfrm>
          <a:prstGeom prst="rect">
            <a:avLst/>
          </a:prstGeom>
          <a:ln w="0">
            <a:noFill/>
          </a:ln>
        </p:spPr>
      </p:sp>
      <p:sp>
        <p:nvSpPr>
          <p:cNvPr id="25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[~30s · GROWTH] How will Thai people find us? Through LINE, because that's where they already are. Our LINE account shares photos of real people connecting and this week's Thai-friendly events, all in Thai. Scan a QR code at the university, a temple or a café, add us on LINE, and a Thai welcome message appears: find a buddy, or join. One tap takes them into Bpai Duay Gan. And that's our real focus: the app itself is built Thai-first, Thai language, Thai-friendly events, a Thai welcome, so Thai people feel comfortable and at home using it. Their meetup photos become next week's LINE posts, and the loop feeds itself.</a:t>
            </a:r>
            <a:endParaRPr b="0" lang="en-US" sz="2000" spc="-1" strike="noStrike">
              <a:solidFill>
                <a:srgbClr val="000000"/>
              </a:solidFill>
              <a:latin typeface="Arial"/>
            </a:endParaRPr>
          </a:p>
        </p:txBody>
      </p:sp>
      <p:sp>
        <p:nvSpPr>
          <p:cNvPr id="257"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ADA3FCF0-0C89-4BCE-9ABB-7984FEAC78A3}"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685800" y="1143000"/>
            <a:ext cx="5485680" cy="3085560"/>
          </a:xfrm>
          <a:prstGeom prst="rect">
            <a:avLst/>
          </a:prstGeom>
          <a:ln w="0">
            <a:noFill/>
          </a:ln>
        </p:spPr>
      </p:sp>
      <p:sp>
        <p:nvSpPr>
          <p:cNvPr id="25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tabLst>
                <a:tab algn="l" pos="0"/>
              </a:tabLst>
            </a:pPr>
            <a:r>
              <a:rPr b="0" lang="en-US" sz="2000" spc="-1" strike="noStrike">
                <a:solidFill>
                  <a:srgbClr val="000000"/>
                </a:solidFill>
                <a:latin typeface="Arial"/>
              </a:rPr>
              <a:t>[~30s · DAY-ONE IMPACT] And this works from day one. It's a link, no app store. Chiang Mai already has the people, the events and the goodwill. What's missing is the bridge. Nomads spend their time and money with locals, not just around them. Locals gain skills, English practice, new income and friends. And we know exactly where we start: I have connections at Chiang Mai University, Payap University and the STeP programme, and we'll bring Thai students and foreign talent together to learn from each other. [Say "we'll start with" unless they've already agreed.]</a:t>
            </a:r>
            <a:endParaRPr b="0" lang="en-US" sz="2000" spc="-1" strike="noStrike">
              <a:solidFill>
                <a:srgbClr val="000000"/>
              </a:solidFill>
              <a:latin typeface="Arial"/>
            </a:endParaRPr>
          </a:p>
        </p:txBody>
      </p:sp>
      <p:sp>
        <p:nvSpPr>
          <p:cNvPr id="260"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3368ABD8-F6B2-4342-83EC-84A2422BCA1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216000" y="812520"/>
            <a:ext cx="7126920" cy="4008600"/>
          </a:xfrm>
          <a:prstGeom prst="rect">
            <a:avLst/>
          </a:prstGeom>
          <a:ln w="0">
            <a:noFill/>
          </a:ln>
        </p:spPr>
      </p:sp>
      <p:sp>
        <p:nvSpPr>
          <p:cNvPr id="262" name="PlaceHolder 2"/>
          <p:cNvSpPr>
            <a:spLocks noGrp="1"/>
          </p:cNvSpPr>
          <p:nvPr>
            <p:ph type="body"/>
          </p:nvPr>
        </p:nvSpPr>
        <p:spPr>
          <a:xfrm>
            <a:off x="756000" y="5078520"/>
            <a:ext cx="6047280" cy="4810680"/>
          </a:xfrm>
          <a:prstGeom prst="rect">
            <a:avLst/>
          </a:prstGeom>
          <a:noFill/>
          <a:ln w="0">
            <a:noFill/>
          </a:ln>
        </p:spPr>
        <p:txBody>
          <a:bodyPr lIns="0" rIns="0" tIns="0" bIns="0" anchor="t">
            <a:noAutofit/>
          </a:bodyPr>
          <a:p>
            <a:pPr marL="216000" indent="0">
              <a:lnSpc>
                <a:spcPct val="100000"/>
              </a:lnSpc>
              <a:buNone/>
            </a:pPr>
            <a:r>
              <a:rPr b="0" lang="en-US" sz="2000" spc="-1" strike="noStrike">
                <a:solidFill>
                  <a:srgbClr val="000000"/>
                </a:solidFill>
                <a:latin typeface="Arial"/>
              </a:rPr>
              <a:t>[~15s · THE TEAM] Six of us built this in one weekend: Lutz on events, Shivam on the backend and matching, Richard on chat and translation, Oleg on the app, Marc on deployment, and me on the pitch. And it's open source on GitHub, so any city where locals and newcomers want to meet, Bali, Lisbon, Medellín, can run its own.</a:t>
            </a:r>
            <a:endParaRPr b="0" lang="en-US" sz="2000" spc="-1" strike="noStrike">
              <a:solidFill>
                <a:srgbClr val="000000"/>
              </a:solidFill>
              <a:latin typeface="Arial"/>
            </a:endParaRPr>
          </a:p>
        </p:txBody>
      </p:sp>
      <p:sp>
        <p:nvSpPr>
          <p:cNvPr id="263" name="PlaceHolder 3"/>
          <p:cNvSpPr>
            <a:spLocks noGrp="1"/>
          </p:cNvSpPr>
          <p:nvPr>
            <p:ph type="sldNum" idx="15"/>
          </p:nvPr>
        </p:nvSpPr>
        <p:spPr>
          <a:xfrm>
            <a:off x="4278960" y="10157400"/>
            <a:ext cx="3280320" cy="53388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Times New Roman"/>
              </a:defRPr>
            </a:lvl1pPr>
          </a:lstStyle>
          <a:p>
            <a:pPr indent="0" algn="r">
              <a:lnSpc>
                <a:spcPct val="100000"/>
              </a:lnSpc>
              <a:buNone/>
              <a:tabLst>
                <a:tab algn="l" pos="0"/>
              </a:tabLst>
            </a:pPr>
            <a:fld id="{B08E6330-C9A2-4897-BF1C-9A313FA26A7F}"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685800" y="1143000"/>
            <a:ext cx="5485680" cy="3085560"/>
          </a:xfrm>
          <a:prstGeom prst="rect">
            <a:avLst/>
          </a:prstGeom>
          <a:ln w="0">
            <a:noFill/>
          </a:ln>
        </p:spPr>
      </p:sp>
      <p:sp>
        <p:nvSpPr>
          <p:cNvPr id="26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0">
              <a:lnSpc>
                <a:spcPct val="100000"/>
              </a:lnSpc>
              <a:buNone/>
            </a:pPr>
            <a:r>
              <a:rPr b="0" lang="en-US" sz="2000" spc="-1" strike="noStrike">
                <a:solidFill>
                  <a:srgbClr val="000000"/>
                </a:solidFill>
                <a:latin typeface="Arial"/>
              </a:rPr>
              <a:t>[~20s · CLOSE] When I was ready to give up on Chiang Mai, I didn't need a translator. I needed someone here to go with. As the saying goes: if you want to go fast, go alone. If you want to go far, go together. [Pause.] Bpai Duay Gan, </a:t>
            </a:r>
            <a:r>
              <a:rPr b="0" lang="hi-IN" sz="2000" spc="-1" strike="noStrike">
                <a:solidFill>
                  <a:srgbClr val="000000"/>
                </a:solidFill>
                <a:latin typeface="Arial"/>
              </a:rPr>
              <a:t>ไปด้วยกัน</a:t>
            </a:r>
            <a:r>
              <a:rPr b="0" lang="en-US" sz="2000" spc="-1" strike="noStrike">
                <a:solidFill>
                  <a:srgbClr val="000000"/>
                </a:solidFill>
                <a:latin typeface="Arial"/>
              </a:rPr>
              <a:t>. Let's go together. </a:t>
            </a:r>
            <a:r>
              <a:rPr b="0" lang="hi-IN" sz="2000" spc="-1" strike="noStrike">
                <a:solidFill>
                  <a:srgbClr val="000000"/>
                </a:solidFill>
                <a:latin typeface="Arial"/>
              </a:rPr>
              <a:t>ขอบคุณค่ะ</a:t>
            </a:r>
            <a:r>
              <a:rPr b="0" lang="en-US" sz="2000" spc="-1" strike="noStrike">
                <a:solidFill>
                  <a:srgbClr val="000000"/>
                </a:solidFill>
                <a:latin typeface="Arial"/>
              </a:rPr>
              <a:t>. [Optional: high-five a Thai teammate.]</a:t>
            </a:r>
            <a:endParaRPr b="0" lang="en-US" sz="2000" spc="-1" strike="noStrike">
              <a:solidFill>
                <a:srgbClr val="000000"/>
              </a:solidFill>
              <a:latin typeface="Arial"/>
            </a:endParaRPr>
          </a:p>
        </p:txBody>
      </p:sp>
      <p:sp>
        <p:nvSpPr>
          <p:cNvPr id="266"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E0A1831C-2558-417C-A042-ECC528C6778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a:t>
            </a:r>
            <a:r>
              <a:rPr b="0" lang="en-US" sz="4400" spc="-1" strike="noStrike">
                <a:solidFill>
                  <a:srgbClr val="000000"/>
                </a:solidFill>
                <a:latin typeface="Arial"/>
              </a:rPr>
              <a:t>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hyperlink" Target="https://bpai.drdos.shivamsaluja.com/sign-in" TargetMode="External"/><Relationship Id="rId3" Type="http://schemas.openxmlformats.org/officeDocument/2006/relationships/hyperlink" Target="https://bpai.drdos.shivamsaluja.com/sign-in" TargetMode="External"/><Relationship Id="rId4" Type="http://schemas.openxmlformats.org/officeDocument/2006/relationships/slideLayout" Target="../slideLayouts/slideLayout1.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20.png"/><Relationship Id="rId6" Type="http://schemas.openxmlformats.org/officeDocument/2006/relationships/image" Target="../media/image18.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slideLayout" Target="../slideLayouts/slideLayout1.xml"/><Relationship Id="rId10"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6.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slideLayout" Target="../slideLayouts/slideLayout1.xml"/><Relationship Id="rId8"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8.jpeg"/><Relationship Id="rId3" Type="http://schemas.openxmlformats.org/officeDocument/2006/relationships/image" Target="../media/image29.jpe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hyperlink" Target="https://github.com/richardmthompson/bpai-duay-gan" TargetMode="External"/><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dfc8"/>
        </a:solidFill>
      </p:bgPr>
    </p:bg>
    <p:spTree>
      <p:nvGrpSpPr>
        <p:cNvPr id="1" name=""/>
        <p:cNvGrpSpPr/>
        <p:nvPr/>
      </p:nvGrpSpPr>
      <p:grpSpPr>
        <a:xfrm>
          <a:off x="0" y="0"/>
          <a:ext cx="0" cy="0"/>
          <a:chOff x="0" y="0"/>
          <a:chExt cx="0" cy="0"/>
        </a:xfrm>
      </p:grpSpPr>
      <p:pic>
        <p:nvPicPr>
          <p:cNvPr id="8" name="Image 0" descr="A Thai woman and a foreign woman laughing together while cooking in a kitchen"/>
          <p:cNvPicPr/>
          <p:nvPr/>
        </p:nvPicPr>
        <p:blipFill>
          <a:blip r:embed="rId1"/>
          <a:srcRect l="18882" t="0" r="18882" b="0"/>
          <a:stretch/>
        </p:blipFill>
        <p:spPr>
          <a:xfrm>
            <a:off x="5587920" y="0"/>
            <a:ext cx="6603120" cy="6857280"/>
          </a:xfrm>
          <a:prstGeom prst="rect">
            <a:avLst/>
          </a:prstGeom>
          <a:ln w="0">
            <a:noFill/>
          </a:ln>
        </p:spPr>
      </p:pic>
      <p:pic>
        <p:nvPicPr>
          <p:cNvPr id="9" name="Picture 11" descr="Bpai Duay Gan logo: amber and teal strands woven together, with the name in English and Thai"/>
          <p:cNvPicPr/>
          <p:nvPr/>
        </p:nvPicPr>
        <p:blipFill>
          <a:blip r:embed="rId2"/>
          <a:stretch/>
        </p:blipFill>
        <p:spPr>
          <a:xfrm>
            <a:off x="1011600" y="880200"/>
            <a:ext cx="2649600" cy="2679120"/>
          </a:xfrm>
          <a:prstGeom prst="rect">
            <a:avLst/>
          </a:prstGeom>
          <a:ln w="0">
            <a:noFill/>
          </a:ln>
        </p:spPr>
      </p:pic>
      <p:sp>
        <p:nvSpPr>
          <p:cNvPr id="10" name="Text 0"/>
          <p:cNvSpPr/>
          <p:nvPr/>
        </p:nvSpPr>
        <p:spPr>
          <a:xfrm>
            <a:off x="812880" y="3788280"/>
            <a:ext cx="4316040" cy="1807560"/>
          </a:xfrm>
          <a:prstGeom prst="rect">
            <a:avLst/>
          </a:prstGeom>
          <a:noFill/>
          <a:ln w="0">
            <a:noFill/>
          </a:ln>
        </p:spPr>
        <p:style>
          <a:lnRef idx="0"/>
          <a:fillRef idx="0"/>
          <a:effectRef idx="0"/>
          <a:fontRef idx="minor"/>
        </p:style>
        <p:txBody>
          <a:bodyPr lIns="0" rIns="0" tIns="0" bIns="0" anchor="t">
            <a:normAutofit/>
          </a:bodyPr>
          <a:p>
            <a:pPr defTabSz="914400">
              <a:lnSpc>
                <a:spcPts val="3121"/>
              </a:lnSpc>
              <a:tabLst>
                <a:tab algn="l" pos="0"/>
              </a:tabLst>
            </a:pPr>
            <a:r>
              <a:rPr b="0" lang="en-US" sz="2600" spc="-1" strike="noStrike">
                <a:solidFill>
                  <a:srgbClr val="0c5341"/>
                </a:solidFill>
                <a:latin typeface="Kanit"/>
                <a:ea typeface="Kanit"/>
              </a:rPr>
              <a:t>Let's go together. Meet the other half of Chiang Mai.</a:t>
            </a:r>
            <a:endParaRPr b="0" lang="en-US" sz="2600" spc="-1" strike="noStrike">
              <a:solidFill>
                <a:srgbClr val="000000"/>
              </a:solidFill>
              <a:latin typeface="Arial"/>
            </a:endParaRPr>
          </a:p>
        </p:txBody>
      </p:sp>
      <p:sp>
        <p:nvSpPr>
          <p:cNvPr id="11" name="Text 1"/>
          <p:cNvSpPr/>
          <p:nvPr/>
        </p:nvSpPr>
        <p:spPr>
          <a:xfrm>
            <a:off x="812880" y="5811480"/>
            <a:ext cx="4577760" cy="66456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4d5048"/>
                </a:solidFill>
                <a:latin typeface="Sarabun"/>
                <a:ea typeface="Sarabun"/>
              </a:rPr>
              <a:t>CLAUDE COMMUNITY HACKATHON · CHIANG MAI · 27 SEP 2026</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eedf"/>
        </a:solidFill>
      </p:bgPr>
    </p:bg>
    <p:spTree>
      <p:nvGrpSpPr>
        <p:cNvPr id="1" name=""/>
        <p:cNvGrpSpPr/>
        <p:nvPr/>
      </p:nvGrpSpPr>
      <p:grpSpPr>
        <a:xfrm>
          <a:off x="0" y="0"/>
          <a:ext cx="0" cy="0"/>
          <a:chOff x="0" y="0"/>
          <a:chExt cx="0" cy="0"/>
        </a:xfrm>
      </p:grpSpPr>
      <p:sp>
        <p:nvSpPr>
          <p:cNvPr id="12" name="Text 0"/>
          <p:cNvSpPr/>
          <p:nvPr/>
        </p:nvSpPr>
        <p:spPr>
          <a:xfrm>
            <a:off x="812880" y="812880"/>
            <a:ext cx="10882800" cy="3715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45" strike="noStrike">
                <a:solidFill>
                  <a:srgbClr val="a33a08"/>
                </a:solidFill>
                <a:latin typeface="Sarabun"/>
                <a:ea typeface="Sarabun"/>
              </a:rPr>
              <a:t>THE PROBLEM</a:t>
            </a:r>
            <a:endParaRPr b="0" lang="en-US" sz="1300" spc="-1" strike="noStrike">
              <a:solidFill>
                <a:srgbClr val="000000"/>
              </a:solidFill>
              <a:latin typeface="Arial"/>
            </a:endParaRPr>
          </a:p>
        </p:txBody>
      </p:sp>
      <p:sp>
        <p:nvSpPr>
          <p:cNvPr id="13" name="Text 1"/>
          <p:cNvSpPr/>
          <p:nvPr/>
        </p:nvSpPr>
        <p:spPr>
          <a:xfrm>
            <a:off x="812880" y="1286640"/>
            <a:ext cx="10882800" cy="1533240"/>
          </a:xfrm>
          <a:prstGeom prst="rect">
            <a:avLst/>
          </a:prstGeom>
          <a:noFill/>
          <a:ln w="0">
            <a:noFill/>
          </a:ln>
        </p:spPr>
        <p:style>
          <a:lnRef idx="0"/>
          <a:fillRef idx="0"/>
          <a:effectRef idx="0"/>
          <a:fontRef idx="minor"/>
        </p:style>
        <p:txBody>
          <a:bodyPr lIns="0" rIns="0" tIns="0" bIns="0" anchor="t">
            <a:normAutofit/>
          </a:bodyPr>
          <a:p>
            <a:pPr defTabSz="914400">
              <a:lnSpc>
                <a:spcPts val="3960"/>
              </a:lnSpc>
              <a:tabLst>
                <a:tab algn="l" pos="0"/>
              </a:tabLst>
            </a:pPr>
            <a:r>
              <a:rPr b="1" lang="en-US" sz="3600" spc="-1" strike="noStrike">
                <a:solidFill>
                  <a:srgbClr val="0c5341"/>
                </a:solidFill>
                <a:latin typeface="Kanit"/>
                <a:ea typeface="Kanit"/>
              </a:rPr>
              <a:t>Chiang Mai is a melting pot. So why is it so hard to connect?</a:t>
            </a:r>
            <a:endParaRPr b="0" lang="en-US" sz="3600" spc="-1" strike="noStrike">
              <a:solidFill>
                <a:srgbClr val="000000"/>
              </a:solidFill>
              <a:latin typeface="Arial"/>
            </a:endParaRPr>
          </a:p>
        </p:txBody>
      </p:sp>
      <p:sp>
        <p:nvSpPr>
          <p:cNvPr id="14" name="Shape 2"/>
          <p:cNvSpPr/>
          <p:nvPr/>
        </p:nvSpPr>
        <p:spPr>
          <a:xfrm>
            <a:off x="819000" y="3106440"/>
            <a:ext cx="4126680" cy="2156400"/>
          </a:xfrm>
          <a:prstGeom prst="roundRect">
            <a:avLst>
              <a:gd name="adj" fmla="val 6770"/>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 name="Text 3"/>
          <p:cNvSpPr/>
          <p:nvPr/>
        </p:nvSpPr>
        <p:spPr>
          <a:xfrm>
            <a:off x="1103760" y="3390840"/>
            <a:ext cx="3664440" cy="351360"/>
          </a:xfrm>
          <a:prstGeom prst="rect">
            <a:avLst/>
          </a:prstGeom>
          <a:noFill/>
          <a:ln w="0">
            <a:noFill/>
          </a:ln>
        </p:spPr>
        <p:style>
          <a:lnRef idx="0"/>
          <a:fillRef idx="0"/>
          <a:effectRef idx="0"/>
          <a:fontRef idx="minor"/>
        </p:style>
        <p:txBody>
          <a:bodyPr lIns="0" rIns="0" tIns="0" bIns="0" anchor="t">
            <a:normAutofit/>
          </a:bodyPr>
          <a:p>
            <a:pPr defTabSz="914400">
              <a:lnSpc>
                <a:spcPts val="1715"/>
              </a:lnSpc>
              <a:tabLst>
                <a:tab algn="l" pos="0"/>
              </a:tabLst>
            </a:pPr>
            <a:r>
              <a:rPr b="1" lang="en-US" sz="1430" spc="-1" strike="noStrike">
                <a:solidFill>
                  <a:srgbClr val="0c5341"/>
                </a:solidFill>
                <a:latin typeface="Kanit"/>
                <a:ea typeface="Kanit"/>
              </a:rPr>
              <a:t>Foreigners</a:t>
            </a:r>
            <a:endParaRPr b="0" lang="en-US" sz="1430" spc="-1" strike="noStrike">
              <a:solidFill>
                <a:srgbClr val="000000"/>
              </a:solidFill>
              <a:latin typeface="Arial"/>
            </a:endParaRPr>
          </a:p>
        </p:txBody>
      </p:sp>
      <p:sp>
        <p:nvSpPr>
          <p:cNvPr id="16" name="Text 4"/>
          <p:cNvSpPr/>
          <p:nvPr/>
        </p:nvSpPr>
        <p:spPr>
          <a:xfrm>
            <a:off x="1103760" y="3870000"/>
            <a:ext cx="3664440" cy="1133640"/>
          </a:xfrm>
          <a:prstGeom prst="rect">
            <a:avLst/>
          </a:prstGeom>
          <a:noFill/>
          <a:ln w="0">
            <a:noFill/>
          </a:ln>
        </p:spPr>
        <p:style>
          <a:lnRef idx="0"/>
          <a:fillRef idx="0"/>
          <a:effectRef idx="0"/>
          <a:fontRef idx="minor"/>
        </p:style>
        <p:txBody>
          <a:bodyPr lIns="0" rIns="0" tIns="0" bIns="0" anchor="t">
            <a:normAutofit/>
          </a:bodyPr>
          <a:p>
            <a:pPr defTabSz="914400">
              <a:lnSpc>
                <a:spcPts val="1868"/>
              </a:lnSpc>
              <a:tabLst>
                <a:tab algn="l" pos="0"/>
              </a:tabLst>
            </a:pPr>
            <a:r>
              <a:rPr b="0" lang="en-US" sz="1340" spc="-1" strike="noStrike">
                <a:solidFill>
                  <a:srgbClr val="4d5048"/>
                </a:solidFill>
                <a:latin typeface="Sarabun"/>
                <a:ea typeface="Sarabun"/>
              </a:rPr>
              <a:t>Want to meet locals and learn Lanna and Thai culture, whether here for a week or two years.</a:t>
            </a:r>
            <a:endParaRPr b="0" lang="en-US" sz="1340" spc="-1" strike="noStrike">
              <a:solidFill>
                <a:srgbClr val="000000"/>
              </a:solidFill>
              <a:latin typeface="Arial"/>
            </a:endParaRPr>
          </a:p>
        </p:txBody>
      </p:sp>
      <p:sp>
        <p:nvSpPr>
          <p:cNvPr id="17" name="Shape 5"/>
          <p:cNvSpPr/>
          <p:nvPr/>
        </p:nvSpPr>
        <p:spPr>
          <a:xfrm>
            <a:off x="5207040" y="3099960"/>
            <a:ext cx="1777320" cy="2169000"/>
          </a:xfrm>
          <a:prstGeom prst="roundRect">
            <a:avLst>
              <a:gd name="adj" fmla="val 8571"/>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 name="Image 0" descr="Users"/>
          <p:cNvPicPr/>
          <p:nvPr/>
        </p:nvPicPr>
        <p:blipFill>
          <a:blip r:embed="rId1"/>
          <a:srcRect l="-79" t="0" r="-79" b="0"/>
          <a:stretch/>
        </p:blipFill>
        <p:spPr>
          <a:xfrm>
            <a:off x="5867280" y="3303360"/>
            <a:ext cx="456480" cy="360720"/>
          </a:xfrm>
          <a:prstGeom prst="rect">
            <a:avLst/>
          </a:prstGeom>
          <a:ln w="0">
            <a:noFill/>
          </a:ln>
        </p:spPr>
      </p:pic>
      <p:sp>
        <p:nvSpPr>
          <p:cNvPr id="19" name="Text 6"/>
          <p:cNvSpPr/>
          <p:nvPr/>
        </p:nvSpPr>
        <p:spPr>
          <a:xfrm>
            <a:off x="5384880" y="3765960"/>
            <a:ext cx="1421640" cy="1325160"/>
          </a:xfrm>
          <a:prstGeom prst="rect">
            <a:avLst/>
          </a:prstGeom>
          <a:noFill/>
          <a:ln w="0">
            <a:noFill/>
          </a:ln>
        </p:spPr>
        <p:style>
          <a:lnRef idx="0"/>
          <a:fillRef idx="0"/>
          <a:effectRef idx="0"/>
          <a:fontRef idx="minor"/>
        </p:style>
        <p:txBody>
          <a:bodyPr lIns="0" rIns="0" tIns="0" bIns="0" anchor="t">
            <a:normAutofit/>
          </a:bodyPr>
          <a:p>
            <a:pPr algn="ctr" defTabSz="914400">
              <a:lnSpc>
                <a:spcPts val="1709"/>
              </a:lnSpc>
              <a:tabLst>
                <a:tab algn="l" pos="0"/>
              </a:tabLst>
            </a:pPr>
            <a:r>
              <a:rPr b="1" lang="en-US" sz="1430" spc="-1" strike="noStrike">
                <a:solidFill>
                  <a:srgbClr val="f7eedf"/>
                </a:solidFill>
                <a:latin typeface="Kanit"/>
                <a:ea typeface="Kanit"/>
              </a:rPr>
              <a:t>No common ground to start</a:t>
            </a:r>
            <a:endParaRPr b="0" lang="en-US" sz="1430" spc="-1" strike="noStrike">
              <a:solidFill>
                <a:srgbClr val="000000"/>
              </a:solidFill>
              <a:latin typeface="Arial"/>
            </a:endParaRPr>
          </a:p>
        </p:txBody>
      </p:sp>
      <p:sp>
        <p:nvSpPr>
          <p:cNvPr id="20" name="Shape 7"/>
          <p:cNvSpPr/>
          <p:nvPr/>
        </p:nvSpPr>
        <p:spPr>
          <a:xfrm>
            <a:off x="7245360" y="3106440"/>
            <a:ext cx="4126680" cy="2156400"/>
          </a:xfrm>
          <a:prstGeom prst="roundRect">
            <a:avLst>
              <a:gd name="adj" fmla="val 6770"/>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21" name="Text 8"/>
          <p:cNvSpPr/>
          <p:nvPr/>
        </p:nvSpPr>
        <p:spPr>
          <a:xfrm>
            <a:off x="7530120" y="3390840"/>
            <a:ext cx="3664440" cy="351360"/>
          </a:xfrm>
          <a:prstGeom prst="rect">
            <a:avLst/>
          </a:prstGeom>
          <a:noFill/>
          <a:ln w="0">
            <a:noFill/>
          </a:ln>
        </p:spPr>
        <p:style>
          <a:lnRef idx="0"/>
          <a:fillRef idx="0"/>
          <a:effectRef idx="0"/>
          <a:fontRef idx="minor"/>
        </p:style>
        <p:txBody>
          <a:bodyPr lIns="0" rIns="0" tIns="0" bIns="0" anchor="t">
            <a:normAutofit/>
          </a:bodyPr>
          <a:p>
            <a:pPr defTabSz="914400">
              <a:lnSpc>
                <a:spcPts val="1715"/>
              </a:lnSpc>
              <a:tabLst>
                <a:tab algn="l" pos="0"/>
              </a:tabLst>
            </a:pPr>
            <a:r>
              <a:rPr b="1" lang="en-US" sz="1430" spc="-1" strike="noStrike">
                <a:solidFill>
                  <a:srgbClr val="0c5341"/>
                </a:solidFill>
                <a:latin typeface="Kanit"/>
                <a:ea typeface="Kanit"/>
              </a:rPr>
              <a:t>Thai locals</a:t>
            </a:r>
            <a:endParaRPr b="0" lang="en-US" sz="1430" spc="-1" strike="noStrike">
              <a:solidFill>
                <a:srgbClr val="000000"/>
              </a:solidFill>
              <a:latin typeface="Arial"/>
            </a:endParaRPr>
          </a:p>
        </p:txBody>
      </p:sp>
      <p:sp>
        <p:nvSpPr>
          <p:cNvPr id="22" name="Text 9"/>
          <p:cNvSpPr/>
          <p:nvPr/>
        </p:nvSpPr>
        <p:spPr>
          <a:xfrm>
            <a:off x="7530120" y="3870000"/>
            <a:ext cx="3664440" cy="1133640"/>
          </a:xfrm>
          <a:prstGeom prst="rect">
            <a:avLst/>
          </a:prstGeom>
          <a:noFill/>
          <a:ln w="0">
            <a:noFill/>
          </a:ln>
        </p:spPr>
        <p:style>
          <a:lnRef idx="0"/>
          <a:fillRef idx="0"/>
          <a:effectRef idx="0"/>
          <a:fontRef idx="minor"/>
        </p:style>
        <p:txBody>
          <a:bodyPr lIns="0" rIns="0" tIns="0" bIns="0" anchor="t">
            <a:normAutofit/>
          </a:bodyPr>
          <a:p>
            <a:pPr defTabSz="914400">
              <a:lnSpc>
                <a:spcPts val="1919"/>
              </a:lnSpc>
              <a:tabLst>
                <a:tab algn="l" pos="0"/>
              </a:tabLst>
            </a:pPr>
            <a:r>
              <a:rPr b="0" lang="en-US" sz="1370" spc="-1" strike="noStrike">
                <a:solidFill>
                  <a:srgbClr val="4d5048"/>
                </a:solidFill>
                <a:latin typeface="Sarabun"/>
                <a:ea typeface="Sarabun"/>
              </a:rPr>
              <a:t>Proud of their food and culture, and many would love to share it, with the right person.</a:t>
            </a:r>
            <a:endParaRPr b="0" lang="en-US" sz="1370" spc="-1" strike="noStrike">
              <a:solidFill>
                <a:srgbClr val="000000"/>
              </a:solidFill>
              <a:latin typeface="Arial"/>
            </a:endParaRPr>
          </a:p>
        </p:txBody>
      </p:sp>
      <p:sp>
        <p:nvSpPr>
          <p:cNvPr id="23" name="Text 10"/>
          <p:cNvSpPr/>
          <p:nvPr/>
        </p:nvSpPr>
        <p:spPr>
          <a:xfrm>
            <a:off x="812880" y="5574600"/>
            <a:ext cx="10882800" cy="495360"/>
          </a:xfrm>
          <a:prstGeom prst="rect">
            <a:avLst/>
          </a:prstGeom>
          <a:noFill/>
          <a:ln w="0">
            <a:noFill/>
          </a:ln>
        </p:spPr>
        <p:style>
          <a:lnRef idx="0"/>
          <a:fillRef idx="0"/>
          <a:effectRef idx="0"/>
          <a:fontRef idx="minor"/>
        </p:style>
        <p:txBody>
          <a:bodyPr lIns="0" rIns="0" tIns="0" bIns="0" anchor="t">
            <a:normAutofit/>
          </a:bodyPr>
          <a:p>
            <a:pPr defTabSz="914400">
              <a:lnSpc>
                <a:spcPts val="2469"/>
              </a:lnSpc>
              <a:tabLst>
                <a:tab algn="l" pos="0"/>
              </a:tabLst>
            </a:pPr>
            <a:r>
              <a:rPr b="0" lang="en-US" sz="1900" spc="-1" strike="noStrike">
                <a:solidFill>
                  <a:srgbClr val="0c5341"/>
                </a:solidFill>
                <a:latin typeface="Kanit"/>
                <a:ea typeface="Kanit"/>
              </a:rPr>
              <a:t>Meeting someone isn't enough. </a:t>
            </a:r>
            <a:r>
              <a:rPr b="0" lang="en-US" sz="1900" spc="-1" strike="noStrike">
                <a:solidFill>
                  <a:srgbClr val="a33a08"/>
                </a:solidFill>
                <a:latin typeface="Kanit"/>
                <a:ea typeface="Kanit"/>
              </a:rPr>
              <a:t>You need something in common.</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5341"/>
        </a:solidFill>
      </p:bgPr>
    </p:bg>
    <p:spTree>
      <p:nvGrpSpPr>
        <p:cNvPr id="1" name=""/>
        <p:cNvGrpSpPr/>
        <p:nvPr/>
      </p:nvGrpSpPr>
      <p:grpSpPr>
        <a:xfrm>
          <a:off x="0" y="0"/>
          <a:ext cx="0" cy="0"/>
          <a:chOff x="0" y="0"/>
          <a:chExt cx="0" cy="0"/>
        </a:xfrm>
      </p:grpSpPr>
      <p:sp>
        <p:nvSpPr>
          <p:cNvPr id="24" name="TextBox 1"/>
          <p:cNvSpPr/>
          <p:nvPr/>
        </p:nvSpPr>
        <p:spPr>
          <a:xfrm>
            <a:off x="822960" y="685800"/>
            <a:ext cx="10515240" cy="198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00" spc="-1" strike="noStrike">
                <a:solidFill>
                  <a:srgbClr val="fcaa16"/>
                </a:solidFill>
                <a:latin typeface="Sarabun"/>
              </a:rPr>
              <a:t>THE HIDDEN PROBLEM</a:t>
            </a:r>
            <a:endParaRPr b="0" lang="en-US" sz="1300" spc="-1" strike="noStrike">
              <a:solidFill>
                <a:srgbClr val="ffffff"/>
              </a:solidFill>
              <a:latin typeface="Arial"/>
            </a:endParaRPr>
          </a:p>
        </p:txBody>
      </p:sp>
      <p:sp>
        <p:nvSpPr>
          <p:cNvPr id="25" name="TextBox 2"/>
          <p:cNvSpPr/>
          <p:nvPr/>
        </p:nvSpPr>
        <p:spPr>
          <a:xfrm>
            <a:off x="822960" y="1097280"/>
            <a:ext cx="10515240" cy="5490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f7eedf"/>
                </a:solidFill>
                <a:latin typeface="Kanit"/>
              </a:rPr>
              <a:t>Surrounded by people, and still alone.</a:t>
            </a:r>
            <a:endParaRPr b="0" lang="en-US" sz="3600" spc="-1" strike="noStrike">
              <a:solidFill>
                <a:srgbClr val="ffffff"/>
              </a:solidFill>
              <a:latin typeface="Arial"/>
            </a:endParaRPr>
          </a:p>
        </p:txBody>
      </p:sp>
      <p:sp>
        <p:nvSpPr>
          <p:cNvPr id="26" name="Rounded Rectangle 3"/>
          <p:cNvSpPr/>
          <p:nvPr/>
        </p:nvSpPr>
        <p:spPr>
          <a:xfrm>
            <a:off x="822960" y="2331720"/>
            <a:ext cx="5143320" cy="2514240"/>
          </a:xfrm>
          <a:prstGeom prst="roundRect">
            <a:avLst>
              <a:gd name="adj" fmla="val 8000"/>
            </a:avLst>
          </a:prstGeom>
          <a:solidFill>
            <a:srgbClr val="0f634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7" name="TextBox 4"/>
          <p:cNvSpPr/>
          <p:nvPr/>
        </p:nvSpPr>
        <p:spPr>
          <a:xfrm>
            <a:off x="1097280" y="2560320"/>
            <a:ext cx="4594680" cy="9147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6000" spc="-1" strike="noStrike">
                <a:solidFill>
                  <a:srgbClr val="fcaa16"/>
                </a:solidFill>
                <a:latin typeface="Kanit"/>
              </a:rPr>
              <a:t>1 in 6</a:t>
            </a:r>
            <a:endParaRPr b="0" lang="en-US" sz="6000" spc="-1" strike="noStrike">
              <a:solidFill>
                <a:srgbClr val="ffffff"/>
              </a:solidFill>
              <a:latin typeface="Arial"/>
            </a:endParaRPr>
          </a:p>
        </p:txBody>
      </p:sp>
      <p:sp>
        <p:nvSpPr>
          <p:cNvPr id="28" name="TextBox 5"/>
          <p:cNvSpPr/>
          <p:nvPr/>
        </p:nvSpPr>
        <p:spPr>
          <a:xfrm>
            <a:off x="1097280" y="3611880"/>
            <a:ext cx="4594680" cy="244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600" spc="-1" strike="noStrike">
                <a:solidFill>
                  <a:srgbClr val="f7eedf"/>
                </a:solidFill>
                <a:latin typeface="Sarabun"/>
              </a:rPr>
              <a:t>people worldwide are lonely</a:t>
            </a:r>
            <a:endParaRPr b="0" lang="en-US" sz="1600" spc="-1" strike="noStrike">
              <a:solidFill>
                <a:srgbClr val="ffffff"/>
              </a:solidFill>
              <a:latin typeface="Arial"/>
            </a:endParaRPr>
          </a:p>
        </p:txBody>
      </p:sp>
      <p:sp>
        <p:nvSpPr>
          <p:cNvPr id="29" name="TextBox 6"/>
          <p:cNvSpPr/>
          <p:nvPr/>
        </p:nvSpPr>
        <p:spPr>
          <a:xfrm>
            <a:off x="1097280" y="4389120"/>
            <a:ext cx="4594680" cy="15300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000" spc="-1" strike="noStrike">
                <a:solidFill>
                  <a:srgbClr val="cfe3dc"/>
                </a:solidFill>
                <a:latin typeface="Sarabun"/>
              </a:rPr>
              <a:t>WHO Commission on Social Connection, 2025</a:t>
            </a:r>
            <a:endParaRPr b="0" lang="en-US" sz="1000" spc="-1" strike="noStrike">
              <a:solidFill>
                <a:srgbClr val="ffffff"/>
              </a:solidFill>
              <a:latin typeface="Arial"/>
            </a:endParaRPr>
          </a:p>
        </p:txBody>
      </p:sp>
      <p:sp>
        <p:nvSpPr>
          <p:cNvPr id="30" name="Rounded Rectangle 7"/>
          <p:cNvSpPr/>
          <p:nvPr/>
        </p:nvSpPr>
        <p:spPr>
          <a:xfrm>
            <a:off x="6240960" y="2331720"/>
            <a:ext cx="5143320" cy="2514240"/>
          </a:xfrm>
          <a:prstGeom prst="roundRect">
            <a:avLst>
              <a:gd name="adj" fmla="val 8000"/>
            </a:avLst>
          </a:prstGeom>
          <a:solidFill>
            <a:srgbClr val="0f634e"/>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31" name="TextBox 8"/>
          <p:cNvSpPr/>
          <p:nvPr/>
        </p:nvSpPr>
        <p:spPr>
          <a:xfrm>
            <a:off x="6515280" y="2560320"/>
            <a:ext cx="4594680" cy="91476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6000" spc="-1" strike="noStrike">
                <a:solidFill>
                  <a:srgbClr val="fcaa16"/>
                </a:solidFill>
                <a:latin typeface="Kanit"/>
              </a:rPr>
              <a:t>71%</a:t>
            </a:r>
            <a:endParaRPr b="0" lang="en-US" sz="6000" spc="-1" strike="noStrike">
              <a:solidFill>
                <a:srgbClr val="ffffff"/>
              </a:solidFill>
              <a:latin typeface="Arial"/>
            </a:endParaRPr>
          </a:p>
        </p:txBody>
      </p:sp>
      <p:sp>
        <p:nvSpPr>
          <p:cNvPr id="32" name="TextBox 9"/>
          <p:cNvSpPr/>
          <p:nvPr/>
        </p:nvSpPr>
        <p:spPr>
          <a:xfrm>
            <a:off x="6515280" y="3611880"/>
            <a:ext cx="4594680" cy="24408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600" spc="-1" strike="noStrike">
                <a:solidFill>
                  <a:srgbClr val="f7eedf"/>
                </a:solidFill>
                <a:latin typeface="Sarabun"/>
              </a:rPr>
              <a:t>of expats find it hard to make local friends</a:t>
            </a:r>
            <a:endParaRPr b="0" lang="en-US" sz="1600" spc="-1" strike="noStrike">
              <a:solidFill>
                <a:srgbClr val="ffffff"/>
              </a:solidFill>
              <a:latin typeface="Arial"/>
            </a:endParaRPr>
          </a:p>
        </p:txBody>
      </p:sp>
      <p:sp>
        <p:nvSpPr>
          <p:cNvPr id="33" name="TextBox 10"/>
          <p:cNvSpPr/>
          <p:nvPr/>
        </p:nvSpPr>
        <p:spPr>
          <a:xfrm>
            <a:off x="6515280" y="4389120"/>
            <a:ext cx="4594680" cy="153000"/>
          </a:xfrm>
          <a:prstGeom prst="rect">
            <a:avLst/>
          </a:prstGeom>
          <a:noFill/>
          <a:ln w="0">
            <a:noFill/>
          </a:ln>
        </p:spPr>
        <p:style>
          <a:lnRef idx="0"/>
          <a:fillRef idx="0"/>
          <a:effectRef idx="0"/>
          <a:fontRef idx="minor"/>
        </p:style>
        <p:txBody>
          <a:bodyPr lIns="0" rIns="0" tIns="0" bIns="0" anchor="t">
            <a:spAutoFit/>
          </a:bodyPr>
          <a:p>
            <a:pPr>
              <a:lnSpc>
                <a:spcPct val="100000"/>
              </a:lnSpc>
            </a:pPr>
            <a:r>
              <a:rPr b="0" i="1" lang="en-US" sz="1000" spc="-1" strike="noStrike">
                <a:solidFill>
                  <a:srgbClr val="cfe3dc"/>
                </a:solidFill>
                <a:latin typeface="Sarabun"/>
              </a:rPr>
              <a:t>InterNations Expat Insider 2026</a:t>
            </a:r>
            <a:endParaRPr b="0" lang="en-US" sz="1000" spc="-1" strike="noStrike">
              <a:solidFill>
                <a:srgbClr val="ffffff"/>
              </a:solidFill>
              <a:latin typeface="Arial"/>
            </a:endParaRPr>
          </a:p>
        </p:txBody>
      </p:sp>
      <p:sp>
        <p:nvSpPr>
          <p:cNvPr id="34" name="Rounded Rectangle 15"/>
          <p:cNvSpPr/>
          <p:nvPr/>
        </p:nvSpPr>
        <p:spPr>
          <a:xfrm>
            <a:off x="822960" y="5166360"/>
            <a:ext cx="10560960" cy="914040"/>
          </a:xfrm>
          <a:prstGeom prst="roundRect">
            <a:avLst>
              <a:gd name="adj" fmla="val 18000"/>
            </a:avLst>
          </a:prstGeom>
          <a:solidFill>
            <a:srgbClr val="fcaa1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35" name="TextBox 16"/>
          <p:cNvSpPr/>
          <p:nvPr/>
        </p:nvSpPr>
        <p:spPr>
          <a:xfrm>
            <a:off x="1097280" y="5333400"/>
            <a:ext cx="10058040" cy="579600"/>
          </a:xfrm>
          <a:prstGeom prst="rect">
            <a:avLst/>
          </a:prstGeom>
          <a:noFill/>
          <a:ln w="0">
            <a:noFill/>
          </a:ln>
        </p:spPr>
        <p:style>
          <a:lnRef idx="0"/>
          <a:fillRef idx="0"/>
          <a:effectRef idx="0"/>
          <a:fontRef idx="minor"/>
        </p:style>
        <p:txBody>
          <a:bodyPr lIns="0" rIns="0" tIns="0" bIns="0" anchor="ctr">
            <a:spAutoFit/>
          </a:bodyPr>
          <a:p>
            <a:pPr>
              <a:lnSpc>
                <a:spcPct val="100000"/>
              </a:lnSpc>
            </a:pPr>
            <a:r>
              <a:rPr b="1" lang="en-US" sz="1900" spc="-1" strike="noStrike">
                <a:solidFill>
                  <a:srgbClr val="0c5341"/>
                </a:solidFill>
                <a:latin typeface="Kanit"/>
              </a:rPr>
              <a:t>Yet expats rank Thais the friendliest people in the world. </a:t>
            </a:r>
            <a:r>
              <a:rPr b="0" lang="en-US" sz="1900" spc="-1" strike="noStrike">
                <a:solidFill>
                  <a:srgbClr val="0c5341"/>
                </a:solidFill>
                <a:latin typeface="Kanit"/>
              </a:rPr>
              <a:t>The friendship is there. The bridge is missing.</a:t>
            </a:r>
            <a:endParaRPr b="0" lang="en-US" sz="19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dfc8"/>
        </a:solidFill>
      </p:bgPr>
    </p:bg>
    <p:spTree>
      <p:nvGrpSpPr>
        <p:cNvPr id="1" name=""/>
        <p:cNvGrpSpPr/>
        <p:nvPr/>
      </p:nvGrpSpPr>
      <p:grpSpPr>
        <a:xfrm>
          <a:off x="0" y="0"/>
          <a:ext cx="0" cy="0"/>
          <a:chOff x="0" y="0"/>
          <a:chExt cx="0" cy="0"/>
        </a:xfrm>
      </p:grpSpPr>
      <p:sp>
        <p:nvSpPr>
          <p:cNvPr id="36" name="Text 0"/>
          <p:cNvSpPr/>
          <p:nvPr/>
        </p:nvSpPr>
        <p:spPr>
          <a:xfrm>
            <a:off x="812880" y="812880"/>
            <a:ext cx="10882800" cy="256680"/>
          </a:xfrm>
          <a:prstGeom prst="rect">
            <a:avLst/>
          </a:prstGeom>
          <a:noFill/>
          <a:ln w="0">
            <a:noFill/>
          </a:ln>
        </p:spPr>
        <p:style>
          <a:lnRef idx="0"/>
          <a:fillRef idx="0"/>
          <a:effectRef idx="0"/>
          <a:fontRef idx="minor"/>
        </p:style>
        <p:txBody>
          <a:bodyPr lIns="0" rIns="0" tIns="0" bIns="0" anchor="t">
            <a:normAutofit/>
          </a:bodyPr>
          <a:p>
            <a:pPr defTabSz="914400">
              <a:lnSpc>
                <a:spcPts val="1247"/>
              </a:lnSpc>
              <a:tabLst>
                <a:tab algn="l" pos="0"/>
              </a:tabLst>
            </a:pPr>
            <a:r>
              <a:rPr b="1" lang="en-US" sz="889" spc="145" strike="noStrike">
                <a:solidFill>
                  <a:srgbClr val="a33a08"/>
                </a:solidFill>
                <a:latin typeface="Sarabun"/>
                <a:ea typeface="Sarabun"/>
              </a:rPr>
              <a:t>GOING TOGETHER</a:t>
            </a:r>
            <a:endParaRPr b="0" lang="en-US" sz="889" spc="-1" strike="noStrike">
              <a:solidFill>
                <a:srgbClr val="000000"/>
              </a:solidFill>
              <a:latin typeface="Arial"/>
            </a:endParaRPr>
          </a:p>
        </p:txBody>
      </p:sp>
      <p:sp>
        <p:nvSpPr>
          <p:cNvPr id="37" name="Text 1"/>
          <p:cNvSpPr/>
          <p:nvPr/>
        </p:nvSpPr>
        <p:spPr>
          <a:xfrm>
            <a:off x="812880" y="1171800"/>
            <a:ext cx="10882800" cy="529200"/>
          </a:xfrm>
          <a:prstGeom prst="rect">
            <a:avLst/>
          </a:prstGeom>
          <a:noFill/>
          <a:ln w="0">
            <a:noFill/>
          </a:ln>
        </p:spPr>
        <p:style>
          <a:lnRef idx="0"/>
          <a:fillRef idx="0"/>
          <a:effectRef idx="0"/>
          <a:fontRef idx="minor"/>
        </p:style>
        <p:txBody>
          <a:bodyPr lIns="0" rIns="0" tIns="0" bIns="0" anchor="t">
            <a:normAutofit/>
          </a:bodyPr>
          <a:p>
            <a:pPr defTabSz="914400">
              <a:lnSpc>
                <a:spcPts val="2648"/>
              </a:lnSpc>
              <a:tabLst>
                <a:tab algn="l" pos="0"/>
              </a:tabLst>
            </a:pPr>
            <a:r>
              <a:rPr b="1" lang="en-US" sz="2410" spc="-1" strike="noStrike">
                <a:solidFill>
                  <a:srgbClr val="0c5341"/>
                </a:solidFill>
                <a:latin typeface="Kanit"/>
                <a:ea typeface="Kanit"/>
              </a:rPr>
              <a:t>Real things to do, side by side.</a:t>
            </a:r>
            <a:endParaRPr b="0" lang="en-US" sz="2410" spc="-1" strike="noStrike">
              <a:solidFill>
                <a:srgbClr val="000000"/>
              </a:solidFill>
              <a:latin typeface="Arial"/>
            </a:endParaRPr>
          </a:p>
        </p:txBody>
      </p:sp>
      <p:sp>
        <p:nvSpPr>
          <p:cNvPr id="38" name="Image 0"/>
          <p:cNvSpPr/>
          <p:nvPr/>
        </p:nvSpPr>
        <p:spPr>
          <a:xfrm>
            <a:off x="812880" y="1930320"/>
            <a:ext cx="5079240" cy="4114080"/>
          </a:xfrm>
          <a:prstGeom prst="roundRect">
            <a:avLst>
              <a:gd name="adj" fmla="val 3704"/>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39" name="Shape 2"/>
          <p:cNvSpPr/>
          <p:nvPr/>
        </p:nvSpPr>
        <p:spPr>
          <a:xfrm>
            <a:off x="965160" y="5391000"/>
            <a:ext cx="2365200" cy="500760"/>
          </a:xfrm>
          <a:prstGeom prst="roundRect">
            <a:avLst>
              <a:gd name="adj" fmla="val 50000"/>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0" name="Text 3"/>
          <p:cNvSpPr/>
          <p:nvPr/>
        </p:nvSpPr>
        <p:spPr>
          <a:xfrm>
            <a:off x="1104840" y="5442120"/>
            <a:ext cx="2148480" cy="424800"/>
          </a:xfrm>
          <a:prstGeom prst="rect">
            <a:avLst/>
          </a:prstGeom>
          <a:noFill/>
          <a:ln w="0">
            <a:noFill/>
          </a:ln>
        </p:spPr>
        <p:style>
          <a:lnRef idx="0"/>
          <a:fillRef idx="0"/>
          <a:effectRef idx="0"/>
          <a:fontRef idx="minor"/>
        </p:style>
        <p:txBody>
          <a:bodyPr wrap="none" lIns="0" rIns="0" tIns="0" bIns="0" anchor="t">
            <a:normAutofit/>
          </a:bodyPr>
          <a:p>
            <a:pPr defTabSz="914400">
              <a:lnSpc>
                <a:spcPts val="2100"/>
              </a:lnSpc>
              <a:tabLst>
                <a:tab algn="l" pos="0"/>
              </a:tabLst>
            </a:pPr>
            <a:r>
              <a:rPr b="1" lang="en-US" sz="1500" spc="-1" strike="noStrike">
                <a:solidFill>
                  <a:srgbClr val="f7eedf"/>
                </a:solidFill>
                <a:latin typeface="Sarabun"/>
                <a:ea typeface="Sarabun"/>
              </a:rPr>
              <a:t>Temple clean-up</a:t>
            </a:r>
            <a:endParaRPr b="0" lang="en-US" sz="1500" spc="-1" strike="noStrike">
              <a:solidFill>
                <a:srgbClr val="000000"/>
              </a:solidFill>
              <a:latin typeface="Arial"/>
            </a:endParaRPr>
          </a:p>
        </p:txBody>
      </p:sp>
      <p:sp>
        <p:nvSpPr>
          <p:cNvPr id="41" name="Image 1"/>
          <p:cNvSpPr/>
          <p:nvPr/>
        </p:nvSpPr>
        <p:spPr>
          <a:xfrm>
            <a:off x="6045120" y="1930320"/>
            <a:ext cx="2564640" cy="1980360"/>
          </a:xfrm>
          <a:custGeom>
            <a:avLst/>
            <a:gdLst>
              <a:gd name="textAreaLeft" fmla="*/ 0 w 2564640"/>
              <a:gd name="textAreaRight" fmla="*/ 2565360 w 2564640"/>
              <a:gd name="textAreaTop" fmla="*/ 0 h 1980360"/>
              <a:gd name="textAreaBottom" fmla="*/ 1981080 h 1980360"/>
            </a:gdLst>
            <a:ahLst/>
            <a:rect l="textAreaLeft" t="textAreaTop" r="textAreaRight" b="textAreaBottom"/>
            <a:pathLst>
              <a:path w="2565400" h="1981200">
                <a:moveTo>
                  <a:pt x="0" y="152400"/>
                </a:moveTo>
                <a:arcTo wR="152400" hR="152400" stAng="10800000" swAng="5400000"/>
                <a:lnTo>
                  <a:pt x="2565400" y="0"/>
                </a:lnTo>
                <a:lnTo>
                  <a:pt x="2565400" y="1981200"/>
                </a:lnTo>
                <a:lnTo>
                  <a:pt x="152400" y="1981200"/>
                </a:lnTo>
                <a:arcTo wR="152400" hR="152400" stAng="5400000" swAng="5400000"/>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2" name="Shape 4"/>
          <p:cNvSpPr/>
          <p:nvPr/>
        </p:nvSpPr>
        <p:spPr>
          <a:xfrm>
            <a:off x="6146640" y="3387240"/>
            <a:ext cx="2158920" cy="422280"/>
          </a:xfrm>
          <a:prstGeom prst="roundRect">
            <a:avLst>
              <a:gd name="adj" fmla="val 50000"/>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3" name="Text 5"/>
          <p:cNvSpPr/>
          <p:nvPr/>
        </p:nvSpPr>
        <p:spPr>
          <a:xfrm>
            <a:off x="6261120" y="3425040"/>
            <a:ext cx="1988280" cy="371520"/>
          </a:xfrm>
          <a:prstGeom prst="rect">
            <a:avLst/>
          </a:prstGeom>
          <a:noFill/>
          <a:ln w="0">
            <a:noFill/>
          </a:ln>
        </p:spPr>
        <p:style>
          <a:lnRef idx="0"/>
          <a:fillRef idx="0"/>
          <a:effectRef idx="0"/>
          <a:fontRef idx="minor"/>
        </p:style>
        <p:txBody>
          <a:bodyPr wrap="none" lIns="0" rIns="0" tIns="0" bIns="0" anchor="t">
            <a:normAutofit/>
          </a:bodyPr>
          <a:p>
            <a:pPr defTabSz="914400">
              <a:lnSpc>
                <a:spcPts val="1820"/>
              </a:lnSpc>
              <a:tabLst>
                <a:tab algn="l" pos="0"/>
              </a:tabLst>
            </a:pPr>
            <a:r>
              <a:rPr b="1" lang="en-US" sz="1300" spc="-1" strike="noStrike">
                <a:solidFill>
                  <a:srgbClr val="f7eedf"/>
                </a:solidFill>
                <a:latin typeface="Sarabun"/>
                <a:ea typeface="Sarabun"/>
              </a:rPr>
              <a:t>Cooking together</a:t>
            </a:r>
            <a:endParaRPr b="0" lang="en-US" sz="1300" spc="-1" strike="noStrike">
              <a:solidFill>
                <a:srgbClr val="000000"/>
              </a:solidFill>
              <a:latin typeface="Arial"/>
            </a:endParaRPr>
          </a:p>
        </p:txBody>
      </p:sp>
      <p:sp>
        <p:nvSpPr>
          <p:cNvPr id="44" name="Image 2"/>
          <p:cNvSpPr/>
          <p:nvPr/>
        </p:nvSpPr>
        <p:spPr>
          <a:xfrm>
            <a:off x="8788320" y="1930320"/>
            <a:ext cx="2564640" cy="1980360"/>
          </a:xfrm>
          <a:custGeom>
            <a:avLst/>
            <a:gdLst>
              <a:gd name="textAreaLeft" fmla="*/ 0 w 2564640"/>
              <a:gd name="textAreaRight" fmla="*/ 2565360 w 2564640"/>
              <a:gd name="textAreaTop" fmla="*/ 0 h 1980360"/>
              <a:gd name="textAreaBottom" fmla="*/ 1981080 h 1980360"/>
            </a:gdLst>
            <a:ahLst/>
            <a:rect l="textAreaLeft" t="textAreaTop" r="textAreaRight" b="textAreaBottom"/>
            <a:pathLst>
              <a:path w="2565400" h="1981200">
                <a:moveTo>
                  <a:pt x="0" y="152400"/>
                </a:moveTo>
                <a:arcTo wR="152400" hR="152400" stAng="10800000" swAng="5400000"/>
                <a:lnTo>
                  <a:pt x="2565400" y="0"/>
                </a:lnTo>
                <a:lnTo>
                  <a:pt x="2565400" y="1981200"/>
                </a:lnTo>
                <a:lnTo>
                  <a:pt x="152400" y="1981200"/>
                </a:lnTo>
                <a:arcTo wR="152400" hR="152400" stAng="5400000" swAng="5400000"/>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5" name="Shape 6"/>
          <p:cNvSpPr/>
          <p:nvPr/>
        </p:nvSpPr>
        <p:spPr>
          <a:xfrm>
            <a:off x="8889840" y="3387240"/>
            <a:ext cx="1859040" cy="422280"/>
          </a:xfrm>
          <a:prstGeom prst="roundRect">
            <a:avLst>
              <a:gd name="adj" fmla="val 50000"/>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6" name="Text 7"/>
          <p:cNvSpPr/>
          <p:nvPr/>
        </p:nvSpPr>
        <p:spPr>
          <a:xfrm>
            <a:off x="9004320" y="3425040"/>
            <a:ext cx="1681200" cy="371520"/>
          </a:xfrm>
          <a:prstGeom prst="rect">
            <a:avLst/>
          </a:prstGeom>
          <a:noFill/>
          <a:ln w="0">
            <a:noFill/>
          </a:ln>
        </p:spPr>
        <p:style>
          <a:lnRef idx="0"/>
          <a:fillRef idx="0"/>
          <a:effectRef idx="0"/>
          <a:fontRef idx="minor"/>
        </p:style>
        <p:txBody>
          <a:bodyPr wrap="none" lIns="0" rIns="0" tIns="0" bIns="0" anchor="t">
            <a:normAutofit/>
          </a:bodyPr>
          <a:p>
            <a:pPr defTabSz="914400">
              <a:lnSpc>
                <a:spcPts val="1820"/>
              </a:lnSpc>
              <a:tabLst>
                <a:tab algn="l" pos="0"/>
              </a:tabLst>
            </a:pPr>
            <a:r>
              <a:rPr b="1" lang="en-US" sz="1300" spc="-1" strike="noStrike">
                <a:solidFill>
                  <a:srgbClr val="f7eedf"/>
                </a:solidFill>
                <a:latin typeface="Sarabun"/>
                <a:ea typeface="Sarabun"/>
              </a:rPr>
              <a:t>Eco workshops</a:t>
            </a:r>
            <a:endParaRPr b="0" lang="en-US" sz="1300" spc="-1" strike="noStrike">
              <a:solidFill>
                <a:srgbClr val="000000"/>
              </a:solidFill>
              <a:latin typeface="Arial"/>
            </a:endParaRPr>
          </a:p>
        </p:txBody>
      </p:sp>
      <p:sp>
        <p:nvSpPr>
          <p:cNvPr id="47" name="Image 3"/>
          <p:cNvSpPr/>
          <p:nvPr/>
        </p:nvSpPr>
        <p:spPr>
          <a:xfrm>
            <a:off x="6045120" y="4064040"/>
            <a:ext cx="2564640" cy="1980360"/>
          </a:xfrm>
          <a:custGeom>
            <a:avLst/>
            <a:gdLst>
              <a:gd name="textAreaLeft" fmla="*/ 0 w 2564640"/>
              <a:gd name="textAreaRight" fmla="*/ 2565360 w 2564640"/>
              <a:gd name="textAreaTop" fmla="*/ 0 h 1980360"/>
              <a:gd name="textAreaBottom" fmla="*/ 1981080 h 1980360"/>
            </a:gdLst>
            <a:ahLst/>
            <a:rect l="textAreaLeft" t="textAreaTop" r="textAreaRight" b="textAreaBottom"/>
            <a:pathLst>
              <a:path w="2565400" h="1981200">
                <a:moveTo>
                  <a:pt x="0" y="152400"/>
                </a:moveTo>
                <a:arcTo wR="152400" hR="152400" stAng="10800000" swAng="5400000"/>
                <a:lnTo>
                  <a:pt x="2565400" y="0"/>
                </a:lnTo>
                <a:lnTo>
                  <a:pt x="2565400" y="1981200"/>
                </a:lnTo>
                <a:lnTo>
                  <a:pt x="152400" y="1981200"/>
                </a:lnTo>
                <a:arcTo wR="152400" hR="152400" stAng="5400000" swAng="5400000"/>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48" name="Shape 8"/>
          <p:cNvSpPr/>
          <p:nvPr/>
        </p:nvSpPr>
        <p:spPr>
          <a:xfrm>
            <a:off x="6146640" y="5520600"/>
            <a:ext cx="1704600" cy="422280"/>
          </a:xfrm>
          <a:prstGeom prst="roundRect">
            <a:avLst>
              <a:gd name="adj" fmla="val 50000"/>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49" name="Text 9"/>
          <p:cNvSpPr/>
          <p:nvPr/>
        </p:nvSpPr>
        <p:spPr>
          <a:xfrm>
            <a:off x="6261120" y="5558760"/>
            <a:ext cx="1526760" cy="371520"/>
          </a:xfrm>
          <a:prstGeom prst="rect">
            <a:avLst/>
          </a:prstGeom>
          <a:noFill/>
          <a:ln w="0">
            <a:noFill/>
          </a:ln>
        </p:spPr>
        <p:style>
          <a:lnRef idx="0"/>
          <a:fillRef idx="0"/>
          <a:effectRef idx="0"/>
          <a:fontRef idx="minor"/>
        </p:style>
        <p:txBody>
          <a:bodyPr wrap="none" lIns="0" rIns="0" tIns="0" bIns="0" anchor="t">
            <a:normAutofit/>
          </a:bodyPr>
          <a:p>
            <a:pPr defTabSz="914400">
              <a:lnSpc>
                <a:spcPts val="1820"/>
              </a:lnSpc>
              <a:tabLst>
                <a:tab algn="l" pos="0"/>
              </a:tabLst>
            </a:pPr>
            <a:r>
              <a:rPr b="1" lang="en-US" sz="1300" spc="-1" strike="noStrike">
                <a:solidFill>
                  <a:srgbClr val="f7eedf"/>
                </a:solidFill>
                <a:latin typeface="Sarabun"/>
                <a:ea typeface="Sarabun"/>
              </a:rPr>
              <a:t>Sepak takraw</a:t>
            </a:r>
            <a:endParaRPr b="0" lang="en-US" sz="1300" spc="-1" strike="noStrike">
              <a:solidFill>
                <a:srgbClr val="000000"/>
              </a:solidFill>
              <a:latin typeface="Arial"/>
            </a:endParaRPr>
          </a:p>
        </p:txBody>
      </p:sp>
      <p:sp>
        <p:nvSpPr>
          <p:cNvPr id="50" name="Shape 10"/>
          <p:cNvSpPr/>
          <p:nvPr/>
        </p:nvSpPr>
        <p:spPr>
          <a:xfrm>
            <a:off x="8788320" y="4064040"/>
            <a:ext cx="2590200" cy="1980360"/>
          </a:xfrm>
          <a:prstGeom prst="roundRect">
            <a:avLst>
              <a:gd name="adj" fmla="val 7692"/>
            </a:avLst>
          </a:prstGeom>
          <a:solidFill>
            <a:srgbClr val="fcaa16"/>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1" name="Text 11"/>
          <p:cNvSpPr/>
          <p:nvPr/>
        </p:nvSpPr>
        <p:spPr>
          <a:xfrm>
            <a:off x="8991720" y="4267080"/>
            <a:ext cx="2249280" cy="523080"/>
          </a:xfrm>
          <a:prstGeom prst="rect">
            <a:avLst/>
          </a:prstGeom>
          <a:noFill/>
          <a:ln w="0">
            <a:noFill/>
          </a:ln>
        </p:spPr>
        <p:style>
          <a:lnRef idx="0"/>
          <a:fillRef idx="0"/>
          <a:effectRef idx="0"/>
          <a:fontRef idx="minor"/>
        </p:style>
        <p:txBody>
          <a:bodyPr lIns="0" rIns="0" tIns="0" bIns="0" anchor="t">
            <a:normAutofit/>
          </a:bodyPr>
          <a:p>
            <a:pPr defTabSz="914400">
              <a:lnSpc>
                <a:spcPts val="1817"/>
              </a:lnSpc>
              <a:tabLst>
                <a:tab algn="l" pos="0"/>
              </a:tabLst>
            </a:pPr>
            <a:r>
              <a:rPr b="1" lang="en-US" sz="1580" spc="-1" strike="noStrike">
                <a:solidFill>
                  <a:srgbClr val="0c5341"/>
                </a:solidFill>
                <a:latin typeface="Kanit"/>
                <a:ea typeface="Kanit"/>
              </a:rPr>
              <a:t>And much more</a:t>
            </a:r>
            <a:endParaRPr b="0" lang="en-US" sz="1580" spc="-1" strike="noStrike">
              <a:solidFill>
                <a:srgbClr val="000000"/>
              </a:solidFill>
              <a:latin typeface="Arial"/>
            </a:endParaRPr>
          </a:p>
        </p:txBody>
      </p:sp>
      <p:sp>
        <p:nvSpPr>
          <p:cNvPr id="52" name="Text 12"/>
          <p:cNvSpPr/>
          <p:nvPr/>
        </p:nvSpPr>
        <p:spPr>
          <a:xfrm>
            <a:off x="8991720" y="4854600"/>
            <a:ext cx="2249280" cy="1011960"/>
          </a:xfrm>
          <a:prstGeom prst="rect">
            <a:avLst/>
          </a:prstGeom>
          <a:noFill/>
          <a:ln w="0">
            <a:noFill/>
          </a:ln>
        </p:spPr>
        <p:style>
          <a:lnRef idx="0"/>
          <a:fillRef idx="0"/>
          <a:effectRef idx="0"/>
          <a:fontRef idx="minor"/>
        </p:style>
        <p:txBody>
          <a:bodyPr lIns="0" rIns="0" tIns="0" bIns="0" anchor="t">
            <a:normAutofit/>
          </a:bodyPr>
          <a:p>
            <a:pPr defTabSz="914400">
              <a:lnSpc>
                <a:spcPts val="1321"/>
              </a:lnSpc>
              <a:tabLst>
                <a:tab algn="l" pos="0"/>
              </a:tabLst>
            </a:pPr>
            <a:r>
              <a:rPr b="0" lang="en-US" sz="980" spc="-1" strike="noStrike">
                <a:solidFill>
                  <a:srgbClr val="0c5341"/>
                </a:solidFill>
                <a:latin typeface="Sarabun"/>
                <a:ea typeface="Sarabun"/>
              </a:rPr>
              <a:t>Language exchange · Muay Thai · Weaving · Scooter lessons · Night markets</a:t>
            </a:r>
            <a:endParaRPr b="0" lang="en-US" sz="98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eedf"/>
        </a:solidFill>
      </p:bgPr>
    </p:bg>
    <p:spTree>
      <p:nvGrpSpPr>
        <p:cNvPr id="1" name=""/>
        <p:cNvGrpSpPr/>
        <p:nvPr/>
      </p:nvGrpSpPr>
      <p:grpSpPr>
        <a:xfrm>
          <a:off x="0" y="0"/>
          <a:ext cx="0" cy="0"/>
          <a:chOff x="0" y="0"/>
          <a:chExt cx="0" cy="0"/>
        </a:xfrm>
      </p:grpSpPr>
      <p:sp>
        <p:nvSpPr>
          <p:cNvPr id="53" name="Text 0"/>
          <p:cNvSpPr/>
          <p:nvPr/>
        </p:nvSpPr>
        <p:spPr>
          <a:xfrm>
            <a:off x="812880" y="812880"/>
            <a:ext cx="10882800" cy="3715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45" strike="noStrike">
                <a:solidFill>
                  <a:srgbClr val="a33a08"/>
                </a:solidFill>
                <a:latin typeface="Sarabun"/>
                <a:ea typeface="Sarabun"/>
              </a:rPr>
              <a:t>NOT JUST FOR FUN</a:t>
            </a:r>
            <a:endParaRPr b="0" lang="en-US" sz="1300" spc="-1" strike="noStrike">
              <a:solidFill>
                <a:srgbClr val="000000"/>
              </a:solidFill>
              <a:latin typeface="Arial"/>
            </a:endParaRPr>
          </a:p>
        </p:txBody>
      </p:sp>
      <p:sp>
        <p:nvSpPr>
          <p:cNvPr id="54" name="Text 1"/>
          <p:cNvSpPr/>
          <p:nvPr/>
        </p:nvSpPr>
        <p:spPr>
          <a:xfrm>
            <a:off x="812880" y="1286640"/>
            <a:ext cx="10882800" cy="779040"/>
          </a:xfrm>
          <a:prstGeom prst="rect">
            <a:avLst/>
          </a:prstGeom>
          <a:noFill/>
          <a:ln w="0">
            <a:noFill/>
          </a:ln>
        </p:spPr>
        <p:style>
          <a:lnRef idx="0"/>
          <a:fillRef idx="0"/>
          <a:effectRef idx="0"/>
          <a:fontRef idx="minor"/>
        </p:style>
        <p:txBody>
          <a:bodyPr lIns="0" rIns="0" tIns="0" bIns="0" anchor="t">
            <a:normAutofit/>
          </a:bodyPr>
          <a:p>
            <a:pPr defTabSz="914400">
              <a:lnSpc>
                <a:spcPts val="3960"/>
              </a:lnSpc>
              <a:tabLst>
                <a:tab algn="l" pos="0"/>
              </a:tabLst>
            </a:pPr>
            <a:r>
              <a:rPr b="1" lang="en-US" sz="3600" spc="-1" strike="noStrike">
                <a:solidFill>
                  <a:srgbClr val="0c5341"/>
                </a:solidFill>
                <a:latin typeface="Kanit"/>
                <a:ea typeface="Kanit"/>
              </a:rPr>
              <a:t>Share skills, grow businesses.</a:t>
            </a:r>
            <a:endParaRPr b="0" lang="en-US" sz="3600" spc="-1" strike="noStrike">
              <a:solidFill>
                <a:srgbClr val="000000"/>
              </a:solidFill>
              <a:latin typeface="Arial"/>
            </a:endParaRPr>
          </a:p>
        </p:txBody>
      </p:sp>
      <p:sp>
        <p:nvSpPr>
          <p:cNvPr id="55" name="Shape 2"/>
          <p:cNvSpPr/>
          <p:nvPr/>
        </p:nvSpPr>
        <p:spPr>
          <a:xfrm>
            <a:off x="819000" y="2326680"/>
            <a:ext cx="4317120" cy="2260080"/>
          </a:xfrm>
          <a:prstGeom prst="roundRect">
            <a:avLst>
              <a:gd name="adj" fmla="val 6460"/>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6" name="Text 3"/>
          <p:cNvSpPr/>
          <p:nvPr/>
        </p:nvSpPr>
        <p:spPr>
          <a:xfrm>
            <a:off x="1103760" y="2611080"/>
            <a:ext cx="3860640" cy="287640"/>
          </a:xfrm>
          <a:prstGeom prst="rect">
            <a:avLst/>
          </a:prstGeom>
          <a:noFill/>
          <a:ln w="0">
            <a:noFill/>
          </a:ln>
        </p:spPr>
        <p:style>
          <a:lnRef idx="0"/>
          <a:fillRef idx="0"/>
          <a:effectRef idx="0"/>
          <a:fontRef idx="minor"/>
        </p:style>
        <p:txBody>
          <a:bodyPr lIns="0" rIns="0" tIns="0" bIns="0" anchor="t">
            <a:normAutofit/>
          </a:bodyPr>
          <a:p>
            <a:pPr defTabSz="914400">
              <a:lnSpc>
                <a:spcPts val="1729"/>
              </a:lnSpc>
              <a:tabLst>
                <a:tab algn="l" pos="0"/>
              </a:tabLst>
            </a:pPr>
            <a:r>
              <a:rPr b="1" lang="en-US" sz="1440" spc="-1" strike="noStrike">
                <a:solidFill>
                  <a:srgbClr val="0c5341"/>
                </a:solidFill>
                <a:latin typeface="Kanit"/>
                <a:ea typeface="Kanit"/>
              </a:rPr>
              <a:t>Khun Nok</a:t>
            </a:r>
            <a:endParaRPr b="0" lang="en-US" sz="1440" spc="-1" strike="noStrike">
              <a:solidFill>
                <a:srgbClr val="000000"/>
              </a:solidFill>
              <a:latin typeface="Arial"/>
            </a:endParaRPr>
          </a:p>
        </p:txBody>
      </p:sp>
      <p:sp>
        <p:nvSpPr>
          <p:cNvPr id="57" name="Text 4"/>
          <p:cNvSpPr/>
          <p:nvPr/>
        </p:nvSpPr>
        <p:spPr>
          <a:xfrm>
            <a:off x="1103760" y="3000960"/>
            <a:ext cx="3860640" cy="407880"/>
          </a:xfrm>
          <a:prstGeom prst="rect">
            <a:avLst/>
          </a:prstGeom>
          <a:noFill/>
          <a:ln w="0">
            <a:noFill/>
          </a:ln>
        </p:spPr>
        <p:style>
          <a:lnRef idx="0"/>
          <a:fillRef idx="0"/>
          <a:effectRef idx="0"/>
          <a:fontRef idx="minor"/>
        </p:style>
        <p:txBody>
          <a:bodyPr lIns="0" rIns="0" tIns="0" bIns="0" anchor="t">
            <a:normAutofit/>
          </a:bodyPr>
          <a:p>
            <a:pPr defTabSz="914400">
              <a:lnSpc>
                <a:spcPts val="1307"/>
              </a:lnSpc>
              <a:tabLst>
                <a:tab algn="l" pos="0"/>
              </a:tabLst>
            </a:pPr>
            <a:r>
              <a:rPr b="0" lang="en-US" sz="939" spc="-1" strike="noStrike">
                <a:solidFill>
                  <a:srgbClr val="4d5048"/>
                </a:solidFill>
                <a:latin typeface="Sarabun"/>
                <a:ea typeface="Sarabun"/>
              </a:rPr>
              <a:t>Chiang Mai maker, sells Thai handmade products</a:t>
            </a:r>
            <a:endParaRPr b="0" lang="en-US" sz="939" spc="-1" strike="noStrike">
              <a:solidFill>
                <a:srgbClr val="000000"/>
              </a:solidFill>
              <a:latin typeface="Arial"/>
            </a:endParaRPr>
          </a:p>
        </p:txBody>
      </p:sp>
      <p:sp>
        <p:nvSpPr>
          <p:cNvPr id="58" name="Text 5"/>
          <p:cNvSpPr/>
          <p:nvPr/>
        </p:nvSpPr>
        <p:spPr>
          <a:xfrm>
            <a:off x="1103760" y="3330720"/>
            <a:ext cx="875520" cy="7182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94" strike="noStrike">
                <a:solidFill>
                  <a:srgbClr val="0c5341"/>
                </a:solidFill>
                <a:latin typeface="Sarabun"/>
                <a:ea typeface="Sarabun"/>
              </a:rPr>
              <a:t>KNOWS</a:t>
            </a:r>
            <a:endParaRPr b="0" lang="en-US" sz="1300" spc="-1" strike="noStrike">
              <a:solidFill>
                <a:srgbClr val="000000"/>
              </a:solidFill>
              <a:latin typeface="Arial"/>
            </a:endParaRPr>
          </a:p>
        </p:txBody>
      </p:sp>
      <p:sp>
        <p:nvSpPr>
          <p:cNvPr id="59" name="Shape 6"/>
          <p:cNvSpPr/>
          <p:nvPr/>
        </p:nvSpPr>
        <p:spPr>
          <a:xfrm>
            <a:off x="2030760" y="3426480"/>
            <a:ext cx="1200240" cy="500760"/>
          </a:xfrm>
          <a:prstGeom prst="roundRect">
            <a:avLst>
              <a:gd name="adj" fmla="val 50000"/>
            </a:avLst>
          </a:prstGeom>
          <a:solidFill>
            <a:srgbClr val="fcd58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0" name="Text 7"/>
          <p:cNvSpPr/>
          <p:nvPr/>
        </p:nvSpPr>
        <p:spPr>
          <a:xfrm>
            <a:off x="2170440" y="3477240"/>
            <a:ext cx="971640" cy="42480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c5341"/>
                </a:solidFill>
                <a:latin typeface="Sarabun"/>
                <a:ea typeface="Sarabun"/>
              </a:rPr>
              <a:t>Shopee</a:t>
            </a:r>
            <a:endParaRPr b="0" lang="en-US" sz="1500" spc="-1" strike="noStrike">
              <a:solidFill>
                <a:srgbClr val="000000"/>
              </a:solidFill>
              <a:latin typeface="Arial"/>
            </a:endParaRPr>
          </a:p>
        </p:txBody>
      </p:sp>
      <p:sp>
        <p:nvSpPr>
          <p:cNvPr id="61" name="Shape 8"/>
          <p:cNvSpPr/>
          <p:nvPr/>
        </p:nvSpPr>
        <p:spPr>
          <a:xfrm>
            <a:off x="3333240" y="3426480"/>
            <a:ext cx="1153800" cy="500760"/>
          </a:xfrm>
          <a:prstGeom prst="roundRect">
            <a:avLst>
              <a:gd name="adj" fmla="val 50000"/>
            </a:avLst>
          </a:prstGeom>
          <a:solidFill>
            <a:srgbClr val="fcd58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2" name="Text 9"/>
          <p:cNvSpPr/>
          <p:nvPr/>
        </p:nvSpPr>
        <p:spPr>
          <a:xfrm>
            <a:off x="3472920" y="3477240"/>
            <a:ext cx="925200" cy="42480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c5341"/>
                </a:solidFill>
                <a:latin typeface="Sarabun"/>
                <a:ea typeface="Sarabun"/>
              </a:rPr>
              <a:t>Lazada</a:t>
            </a:r>
            <a:endParaRPr b="0" lang="en-US" sz="1500" spc="-1" strike="noStrike">
              <a:solidFill>
                <a:srgbClr val="000000"/>
              </a:solidFill>
              <a:latin typeface="Arial"/>
            </a:endParaRPr>
          </a:p>
        </p:txBody>
      </p:sp>
      <p:sp>
        <p:nvSpPr>
          <p:cNvPr id="63" name="Text 10"/>
          <p:cNvSpPr/>
          <p:nvPr/>
        </p:nvSpPr>
        <p:spPr>
          <a:xfrm>
            <a:off x="1103760" y="3790080"/>
            <a:ext cx="875520" cy="7182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94" strike="noStrike">
                <a:solidFill>
                  <a:srgbClr val="0c5341"/>
                </a:solidFill>
                <a:latin typeface="Sarabun"/>
                <a:ea typeface="Sarabun"/>
              </a:rPr>
              <a:t>LEARNS</a:t>
            </a:r>
            <a:endParaRPr b="0" lang="en-US" sz="1300" spc="-1" strike="noStrike">
              <a:solidFill>
                <a:srgbClr val="000000"/>
              </a:solidFill>
              <a:latin typeface="Arial"/>
            </a:endParaRPr>
          </a:p>
        </p:txBody>
      </p:sp>
      <p:sp>
        <p:nvSpPr>
          <p:cNvPr id="64" name="Shape 11"/>
          <p:cNvSpPr/>
          <p:nvPr/>
        </p:nvSpPr>
        <p:spPr>
          <a:xfrm>
            <a:off x="2030760" y="3885840"/>
            <a:ext cx="1280520" cy="500760"/>
          </a:xfrm>
          <a:prstGeom prst="roundRect">
            <a:avLst>
              <a:gd name="adj" fmla="val 50000"/>
            </a:avLst>
          </a:prstGeom>
          <a:solidFill>
            <a:srgbClr val="cde9e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65" name="Text 12"/>
          <p:cNvSpPr/>
          <p:nvPr/>
        </p:nvSpPr>
        <p:spPr>
          <a:xfrm>
            <a:off x="2170440" y="3936600"/>
            <a:ext cx="1051920" cy="42480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c5341"/>
                </a:solidFill>
                <a:latin typeface="Sarabun"/>
                <a:ea typeface="Sarabun"/>
              </a:rPr>
              <a:t>Amazon</a:t>
            </a:r>
            <a:endParaRPr b="0" lang="en-US" sz="1500" spc="-1" strike="noStrike">
              <a:solidFill>
                <a:srgbClr val="000000"/>
              </a:solidFill>
              <a:latin typeface="Arial"/>
            </a:endParaRPr>
          </a:p>
        </p:txBody>
      </p:sp>
      <p:pic>
        <p:nvPicPr>
          <p:cNvPr id="66" name="Image 0" descr="arrow-right"/>
          <p:cNvPicPr/>
          <p:nvPr/>
        </p:nvPicPr>
        <p:blipFill>
          <a:blip r:embed="rId1"/>
          <a:srcRect l="-315" t="0" r="-315" b="0"/>
          <a:stretch/>
        </p:blipFill>
        <p:spPr>
          <a:xfrm>
            <a:off x="5715000" y="2320200"/>
            <a:ext cx="761400" cy="333720"/>
          </a:xfrm>
          <a:prstGeom prst="rect">
            <a:avLst/>
          </a:prstGeom>
          <a:ln w="0">
            <a:noFill/>
          </a:ln>
        </p:spPr>
      </p:pic>
      <p:sp>
        <p:nvSpPr>
          <p:cNvPr id="67" name="Text 13"/>
          <p:cNvSpPr/>
          <p:nvPr/>
        </p:nvSpPr>
        <p:spPr>
          <a:xfrm>
            <a:off x="5372280" y="2769120"/>
            <a:ext cx="1447200" cy="1400400"/>
          </a:xfrm>
          <a:prstGeom prst="rect">
            <a:avLst/>
          </a:prstGeom>
          <a:noFill/>
          <a:ln w="0">
            <a:noFill/>
          </a:ln>
        </p:spPr>
        <p:style>
          <a:lnRef idx="0"/>
          <a:fillRef idx="0"/>
          <a:effectRef idx="0"/>
          <a:fontRef idx="minor"/>
        </p:style>
        <p:txBody>
          <a:bodyPr lIns="0" rIns="0" tIns="0" bIns="0" anchor="t">
            <a:normAutofit/>
          </a:bodyPr>
          <a:p>
            <a:pPr algn="ctr" defTabSz="914400">
              <a:lnSpc>
                <a:spcPts val="1823"/>
              </a:lnSpc>
              <a:tabLst>
                <a:tab algn="l" pos="0"/>
              </a:tabLst>
            </a:pPr>
            <a:r>
              <a:rPr b="1" lang="en-US" sz="1520" spc="-1" strike="noStrike">
                <a:solidFill>
                  <a:srgbClr val="0c5341"/>
                </a:solidFill>
                <a:latin typeface="Kanit"/>
                <a:ea typeface="Kanit"/>
              </a:rPr>
              <a:t>They swap know-how</a:t>
            </a:r>
            <a:endParaRPr b="0" lang="en-US" sz="1520" spc="-1" strike="noStrike">
              <a:solidFill>
                <a:srgbClr val="000000"/>
              </a:solidFill>
              <a:latin typeface="Arial"/>
            </a:endParaRPr>
          </a:p>
        </p:txBody>
      </p:sp>
      <p:pic>
        <p:nvPicPr>
          <p:cNvPr id="68" name="Image 1" descr="arrow-left"/>
          <p:cNvPicPr/>
          <p:nvPr/>
        </p:nvPicPr>
        <p:blipFill>
          <a:blip r:embed="rId2"/>
          <a:srcRect l="-315" t="0" r="-315" b="0"/>
          <a:stretch/>
        </p:blipFill>
        <p:spPr>
          <a:xfrm>
            <a:off x="5715000" y="4259160"/>
            <a:ext cx="761400" cy="333720"/>
          </a:xfrm>
          <a:prstGeom prst="rect">
            <a:avLst/>
          </a:prstGeom>
          <a:ln w="0">
            <a:noFill/>
          </a:ln>
        </p:spPr>
      </p:pic>
      <p:sp>
        <p:nvSpPr>
          <p:cNvPr id="69" name="Shape 14"/>
          <p:cNvSpPr/>
          <p:nvPr/>
        </p:nvSpPr>
        <p:spPr>
          <a:xfrm>
            <a:off x="7054920" y="2326680"/>
            <a:ext cx="4317120" cy="2260080"/>
          </a:xfrm>
          <a:prstGeom prst="roundRect">
            <a:avLst>
              <a:gd name="adj" fmla="val 6460"/>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0" name="Text 15"/>
          <p:cNvSpPr/>
          <p:nvPr/>
        </p:nvSpPr>
        <p:spPr>
          <a:xfrm>
            <a:off x="7339320" y="2611080"/>
            <a:ext cx="3860640" cy="287640"/>
          </a:xfrm>
          <a:prstGeom prst="rect">
            <a:avLst/>
          </a:prstGeom>
          <a:noFill/>
          <a:ln w="0">
            <a:noFill/>
          </a:ln>
        </p:spPr>
        <p:style>
          <a:lnRef idx="0"/>
          <a:fillRef idx="0"/>
          <a:effectRef idx="0"/>
          <a:fontRef idx="minor"/>
        </p:style>
        <p:txBody>
          <a:bodyPr lIns="0" rIns="0" tIns="0" bIns="0" anchor="t">
            <a:normAutofit/>
          </a:bodyPr>
          <a:p>
            <a:pPr defTabSz="914400">
              <a:lnSpc>
                <a:spcPts val="1729"/>
              </a:lnSpc>
              <a:tabLst>
                <a:tab algn="l" pos="0"/>
              </a:tabLst>
            </a:pPr>
            <a:r>
              <a:rPr b="1" lang="en-US" sz="1440" spc="-1" strike="noStrike">
                <a:solidFill>
                  <a:srgbClr val="0c5341"/>
                </a:solidFill>
                <a:latin typeface="Kanit"/>
                <a:ea typeface="Kanit"/>
              </a:rPr>
              <a:t>Wendy</a:t>
            </a:r>
            <a:endParaRPr b="0" lang="en-US" sz="1440" spc="-1" strike="noStrike">
              <a:solidFill>
                <a:srgbClr val="000000"/>
              </a:solidFill>
              <a:latin typeface="Arial"/>
            </a:endParaRPr>
          </a:p>
        </p:txBody>
      </p:sp>
      <p:sp>
        <p:nvSpPr>
          <p:cNvPr id="71" name="Text 16"/>
          <p:cNvSpPr/>
          <p:nvPr/>
        </p:nvSpPr>
        <p:spPr>
          <a:xfrm>
            <a:off x="7339320" y="3000960"/>
            <a:ext cx="3860640" cy="407880"/>
          </a:xfrm>
          <a:prstGeom prst="rect">
            <a:avLst/>
          </a:prstGeom>
          <a:noFill/>
          <a:ln w="0">
            <a:noFill/>
          </a:ln>
        </p:spPr>
        <p:style>
          <a:lnRef idx="0"/>
          <a:fillRef idx="0"/>
          <a:effectRef idx="0"/>
          <a:fontRef idx="minor"/>
        </p:style>
        <p:txBody>
          <a:bodyPr lIns="0" rIns="0" tIns="0" bIns="0" anchor="t">
            <a:normAutofit/>
          </a:bodyPr>
          <a:p>
            <a:pPr defTabSz="914400">
              <a:lnSpc>
                <a:spcPts val="1522"/>
              </a:lnSpc>
              <a:tabLst>
                <a:tab algn="l" pos="0"/>
              </a:tabLst>
            </a:pPr>
            <a:r>
              <a:rPr b="0" lang="en-US" sz="1090" spc="-1" strike="noStrike">
                <a:solidFill>
                  <a:srgbClr val="4d5048"/>
                </a:solidFill>
                <a:latin typeface="Sarabun"/>
                <a:ea typeface="Sarabun"/>
              </a:rPr>
              <a:t>Expat e-commerce seller, new to Thailand</a:t>
            </a:r>
            <a:endParaRPr b="0" lang="en-US" sz="1090" spc="-1" strike="noStrike">
              <a:solidFill>
                <a:srgbClr val="000000"/>
              </a:solidFill>
              <a:latin typeface="Arial"/>
            </a:endParaRPr>
          </a:p>
        </p:txBody>
      </p:sp>
      <p:sp>
        <p:nvSpPr>
          <p:cNvPr id="72" name="Text 17"/>
          <p:cNvSpPr/>
          <p:nvPr/>
        </p:nvSpPr>
        <p:spPr>
          <a:xfrm>
            <a:off x="7339320" y="3330720"/>
            <a:ext cx="875520" cy="7182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94" strike="noStrike">
                <a:solidFill>
                  <a:srgbClr val="0c5341"/>
                </a:solidFill>
                <a:latin typeface="Sarabun"/>
                <a:ea typeface="Sarabun"/>
              </a:rPr>
              <a:t>KNOWS</a:t>
            </a:r>
            <a:endParaRPr b="0" lang="en-US" sz="1300" spc="-1" strike="noStrike">
              <a:solidFill>
                <a:srgbClr val="000000"/>
              </a:solidFill>
              <a:latin typeface="Arial"/>
            </a:endParaRPr>
          </a:p>
        </p:txBody>
      </p:sp>
      <p:sp>
        <p:nvSpPr>
          <p:cNvPr id="73" name="Shape 18"/>
          <p:cNvSpPr/>
          <p:nvPr/>
        </p:nvSpPr>
        <p:spPr>
          <a:xfrm>
            <a:off x="8266680" y="3426480"/>
            <a:ext cx="1280520" cy="500760"/>
          </a:xfrm>
          <a:prstGeom prst="roundRect">
            <a:avLst>
              <a:gd name="adj" fmla="val 50000"/>
            </a:avLst>
          </a:prstGeom>
          <a:solidFill>
            <a:srgbClr val="cde9e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4" name="Text 19"/>
          <p:cNvSpPr/>
          <p:nvPr/>
        </p:nvSpPr>
        <p:spPr>
          <a:xfrm>
            <a:off x="8406360" y="3477240"/>
            <a:ext cx="1051920" cy="42480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c5341"/>
                </a:solidFill>
                <a:latin typeface="Sarabun"/>
                <a:ea typeface="Sarabun"/>
              </a:rPr>
              <a:t>Amazon</a:t>
            </a:r>
            <a:endParaRPr b="0" lang="en-US" sz="1500" spc="-1" strike="noStrike">
              <a:solidFill>
                <a:srgbClr val="000000"/>
              </a:solidFill>
              <a:latin typeface="Arial"/>
            </a:endParaRPr>
          </a:p>
        </p:txBody>
      </p:sp>
      <p:sp>
        <p:nvSpPr>
          <p:cNvPr id="75" name="Text 20"/>
          <p:cNvSpPr/>
          <p:nvPr/>
        </p:nvSpPr>
        <p:spPr>
          <a:xfrm>
            <a:off x="7339320" y="3790080"/>
            <a:ext cx="875520" cy="71820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94" strike="noStrike">
                <a:solidFill>
                  <a:srgbClr val="0c5341"/>
                </a:solidFill>
                <a:latin typeface="Sarabun"/>
                <a:ea typeface="Sarabun"/>
              </a:rPr>
              <a:t>LEARNS</a:t>
            </a:r>
            <a:endParaRPr b="0" lang="en-US" sz="1300" spc="-1" strike="noStrike">
              <a:solidFill>
                <a:srgbClr val="000000"/>
              </a:solidFill>
              <a:latin typeface="Arial"/>
            </a:endParaRPr>
          </a:p>
        </p:txBody>
      </p:sp>
      <p:sp>
        <p:nvSpPr>
          <p:cNvPr id="76" name="Shape 21"/>
          <p:cNvSpPr/>
          <p:nvPr/>
        </p:nvSpPr>
        <p:spPr>
          <a:xfrm>
            <a:off x="8266680" y="3885840"/>
            <a:ext cx="1200240" cy="500760"/>
          </a:xfrm>
          <a:prstGeom prst="roundRect">
            <a:avLst>
              <a:gd name="adj" fmla="val 50000"/>
            </a:avLst>
          </a:prstGeom>
          <a:solidFill>
            <a:srgbClr val="fcd58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7" name="Text 22"/>
          <p:cNvSpPr/>
          <p:nvPr/>
        </p:nvSpPr>
        <p:spPr>
          <a:xfrm>
            <a:off x="8406360" y="3936600"/>
            <a:ext cx="971640" cy="42480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c5341"/>
                </a:solidFill>
                <a:latin typeface="Sarabun"/>
                <a:ea typeface="Sarabun"/>
              </a:rPr>
              <a:t>Shopee</a:t>
            </a:r>
            <a:endParaRPr b="0" lang="en-US" sz="1500" spc="-1" strike="noStrike">
              <a:solidFill>
                <a:srgbClr val="000000"/>
              </a:solidFill>
              <a:latin typeface="Arial"/>
            </a:endParaRPr>
          </a:p>
        </p:txBody>
      </p:sp>
      <p:sp>
        <p:nvSpPr>
          <p:cNvPr id="78" name="Shape 23"/>
          <p:cNvSpPr/>
          <p:nvPr/>
        </p:nvSpPr>
        <p:spPr>
          <a:xfrm>
            <a:off x="9569160" y="3885840"/>
            <a:ext cx="1153800" cy="500760"/>
          </a:xfrm>
          <a:prstGeom prst="roundRect">
            <a:avLst>
              <a:gd name="adj" fmla="val 50000"/>
            </a:avLst>
          </a:prstGeom>
          <a:solidFill>
            <a:srgbClr val="fcd58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79" name="Text 24"/>
          <p:cNvSpPr/>
          <p:nvPr/>
        </p:nvSpPr>
        <p:spPr>
          <a:xfrm>
            <a:off x="9708840" y="3936600"/>
            <a:ext cx="925200" cy="42480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0" lang="en-US" sz="1500" spc="-1" strike="noStrike">
                <a:solidFill>
                  <a:srgbClr val="0c5341"/>
                </a:solidFill>
                <a:latin typeface="Sarabun"/>
                <a:ea typeface="Sarabun"/>
              </a:rPr>
              <a:t>Lazada</a:t>
            </a:r>
            <a:endParaRPr b="0" lang="en-US" sz="1500" spc="-1" strike="noStrike">
              <a:solidFill>
                <a:srgbClr val="000000"/>
              </a:solidFill>
              <a:latin typeface="Arial"/>
            </a:endParaRPr>
          </a:p>
        </p:txBody>
      </p:sp>
      <p:sp>
        <p:nvSpPr>
          <p:cNvPr id="80" name="Shape 25"/>
          <p:cNvSpPr/>
          <p:nvPr/>
        </p:nvSpPr>
        <p:spPr>
          <a:xfrm>
            <a:off x="812880" y="4872960"/>
            <a:ext cx="10565640" cy="1171440"/>
          </a:xfrm>
          <a:prstGeom prst="roundRect">
            <a:avLst>
              <a:gd name="adj" fmla="val 13002"/>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81" name="Image 2" descr="Globe"/>
          <p:cNvPicPr/>
          <p:nvPr/>
        </p:nvPicPr>
        <p:blipFill>
          <a:blip r:embed="rId3"/>
          <a:stretch/>
        </p:blipFill>
        <p:spPr>
          <a:xfrm>
            <a:off x="1041480" y="5306760"/>
            <a:ext cx="304200" cy="304200"/>
          </a:xfrm>
          <a:prstGeom prst="rect">
            <a:avLst/>
          </a:prstGeom>
          <a:ln w="0">
            <a:noFill/>
          </a:ln>
        </p:spPr>
      </p:pic>
      <p:sp>
        <p:nvSpPr>
          <p:cNvPr id="82" name="Text 26"/>
          <p:cNvSpPr/>
          <p:nvPr/>
        </p:nvSpPr>
        <p:spPr>
          <a:xfrm>
            <a:off x="1498680" y="5038200"/>
            <a:ext cx="9940680" cy="866520"/>
          </a:xfrm>
          <a:prstGeom prst="rect">
            <a:avLst/>
          </a:prstGeom>
          <a:noFill/>
          <a:ln w="0">
            <a:noFill/>
          </a:ln>
        </p:spPr>
        <p:style>
          <a:lnRef idx="0"/>
          <a:fillRef idx="0"/>
          <a:effectRef idx="0"/>
          <a:fontRef idx="minor"/>
        </p:style>
        <p:txBody>
          <a:bodyPr lIns="0" rIns="0" tIns="0" bIns="0" anchor="t">
            <a:normAutofit/>
          </a:bodyPr>
          <a:p>
            <a:pPr defTabSz="914400">
              <a:lnSpc>
                <a:spcPts val="2211"/>
              </a:lnSpc>
              <a:tabLst>
                <a:tab algn="l" pos="0"/>
              </a:tabLst>
            </a:pPr>
            <a:r>
              <a:rPr b="0" lang="en-US" sz="1700" spc="-1" strike="noStrike">
                <a:solidFill>
                  <a:srgbClr val="f7eedf"/>
                </a:solidFill>
                <a:latin typeface="Kanit"/>
                <a:ea typeface="Kanit"/>
              </a:rPr>
              <a:t>Both sell on both platforms, and local Thai products reach global markets.</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eedf"/>
        </a:solidFill>
      </p:bgPr>
    </p:bg>
    <p:spTree>
      <p:nvGrpSpPr>
        <p:cNvPr id="1" name=""/>
        <p:cNvGrpSpPr/>
        <p:nvPr/>
      </p:nvGrpSpPr>
      <p:grpSpPr>
        <a:xfrm>
          <a:off x="0" y="0"/>
          <a:ext cx="0" cy="0"/>
          <a:chOff x="0" y="0"/>
          <a:chExt cx="0" cy="0"/>
        </a:xfrm>
      </p:grpSpPr>
      <p:sp>
        <p:nvSpPr>
          <p:cNvPr id="83" name="Text 0"/>
          <p:cNvSpPr/>
          <p:nvPr/>
        </p:nvSpPr>
        <p:spPr>
          <a:xfrm>
            <a:off x="812880" y="812880"/>
            <a:ext cx="10882800" cy="362160"/>
          </a:xfrm>
          <a:prstGeom prst="rect">
            <a:avLst/>
          </a:prstGeom>
          <a:noFill/>
          <a:ln w="0">
            <a:noFill/>
          </a:ln>
        </p:spPr>
        <p:style>
          <a:lnRef idx="0"/>
          <a:fillRef idx="0"/>
          <a:effectRef idx="0"/>
          <a:fontRef idx="minor"/>
        </p:style>
        <p:txBody>
          <a:bodyPr lIns="0" rIns="0" tIns="0" bIns="0" anchor="t">
            <a:normAutofit/>
          </a:bodyPr>
          <a:p>
            <a:pPr defTabSz="914400">
              <a:lnSpc>
                <a:spcPts val="1780"/>
              </a:lnSpc>
              <a:tabLst>
                <a:tab algn="l" pos="0"/>
              </a:tabLst>
            </a:pPr>
            <a:r>
              <a:rPr b="1" lang="en-US" sz="1270" spc="145" strike="noStrike">
                <a:solidFill>
                  <a:srgbClr val="a33a08"/>
                </a:solidFill>
                <a:latin typeface="Sarabun"/>
                <a:ea typeface="Sarabun"/>
              </a:rPr>
              <a:t>THE APP, STEP BY STEP</a:t>
            </a:r>
            <a:endParaRPr b="0" lang="en-US" sz="1270" spc="-1" strike="noStrike">
              <a:solidFill>
                <a:srgbClr val="000000"/>
              </a:solidFill>
              <a:latin typeface="Arial"/>
            </a:endParaRPr>
          </a:p>
        </p:txBody>
      </p:sp>
      <p:sp>
        <p:nvSpPr>
          <p:cNvPr id="84" name="Text 1"/>
          <p:cNvSpPr/>
          <p:nvPr/>
        </p:nvSpPr>
        <p:spPr>
          <a:xfrm>
            <a:off x="812880" y="1277280"/>
            <a:ext cx="10882800" cy="758520"/>
          </a:xfrm>
          <a:prstGeom prst="rect">
            <a:avLst/>
          </a:prstGeom>
          <a:noFill/>
          <a:ln w="0">
            <a:noFill/>
          </a:ln>
        </p:spPr>
        <p:style>
          <a:lnRef idx="0"/>
          <a:fillRef idx="0"/>
          <a:effectRef idx="0"/>
          <a:fontRef idx="minor"/>
        </p:style>
        <p:txBody>
          <a:bodyPr lIns="0" rIns="0" tIns="0" bIns="0" anchor="t">
            <a:normAutofit/>
          </a:bodyPr>
          <a:p>
            <a:pPr defTabSz="914400">
              <a:lnSpc>
                <a:spcPts val="3872"/>
              </a:lnSpc>
              <a:tabLst>
                <a:tab algn="l" pos="0"/>
              </a:tabLst>
            </a:pPr>
            <a:r>
              <a:rPr b="1" lang="en-US" sz="3520" spc="-1" strike="noStrike">
                <a:solidFill>
                  <a:srgbClr val="0c5341"/>
                </a:solidFill>
                <a:latin typeface="Kanit"/>
                <a:ea typeface="Kanit"/>
              </a:rPr>
              <a:t>Sign up in under a minute.</a:t>
            </a:r>
            <a:endParaRPr b="0" lang="en-US" sz="3520" spc="-1" strike="noStrike">
              <a:solidFill>
                <a:srgbClr val="000000"/>
              </a:solidFill>
              <a:latin typeface="Arial"/>
            </a:endParaRPr>
          </a:p>
        </p:txBody>
      </p:sp>
      <p:sp>
        <p:nvSpPr>
          <p:cNvPr id="85" name="Image 0"/>
          <p:cNvSpPr/>
          <p:nvPr/>
        </p:nvSpPr>
        <p:spPr>
          <a:xfrm>
            <a:off x="844560" y="2296800"/>
            <a:ext cx="1815480" cy="2742480"/>
          </a:xfrm>
          <a:prstGeom prst="roundRect">
            <a:avLst>
              <a:gd name="adj" fmla="val 8042"/>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6" name="Shape 2"/>
          <p:cNvSpPr/>
          <p:nvPr/>
        </p:nvSpPr>
        <p:spPr>
          <a:xfrm>
            <a:off x="828720" y="2280960"/>
            <a:ext cx="1847160" cy="2774160"/>
          </a:xfrm>
          <a:prstGeom prst="roundRect">
            <a:avLst>
              <a:gd name="adj" fmla="val 8763"/>
            </a:avLst>
          </a:prstGeom>
          <a:noFill/>
          <a:ln w="31750">
            <a:solidFill>
              <a:srgbClr val="1f1a14"/>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7" name="Text 3"/>
          <p:cNvSpPr/>
          <p:nvPr/>
        </p:nvSpPr>
        <p:spPr>
          <a:xfrm>
            <a:off x="812880" y="5173200"/>
            <a:ext cx="1935360" cy="668520"/>
          </a:xfrm>
          <a:prstGeom prst="rect">
            <a:avLst/>
          </a:prstGeom>
          <a:noFill/>
          <a:ln w="0">
            <a:noFill/>
          </a:ln>
        </p:spPr>
        <p:style>
          <a:lnRef idx="0"/>
          <a:fillRef idx="0"/>
          <a:effectRef idx="0"/>
          <a:fontRef idx="minor"/>
        </p:style>
        <p:txBody>
          <a:bodyPr lIns="0" rIns="0" tIns="0" bIns="0" anchor="t">
            <a:normAutofit/>
          </a:bodyPr>
          <a:p>
            <a:pPr defTabSz="914400">
              <a:lnSpc>
                <a:spcPts val="1689"/>
              </a:lnSpc>
              <a:tabLst>
                <a:tab algn="l" pos="0"/>
              </a:tabLst>
            </a:pPr>
            <a:r>
              <a:rPr b="1" lang="en-US" sz="1300" spc="-1" strike="noStrike">
                <a:solidFill>
                  <a:srgbClr val="0c5341"/>
                </a:solidFill>
                <a:latin typeface="Sarabun"/>
                <a:ea typeface="Sarabun"/>
              </a:rPr>
              <a:t>1.</a:t>
            </a:r>
            <a:r>
              <a:rPr b="0" lang="en-US" sz="1300" spc="-1" strike="noStrike">
                <a:solidFill>
                  <a:srgbClr val="0c5341"/>
                </a:solidFill>
                <a:latin typeface="Sarabun"/>
                <a:ea typeface="Sarabun"/>
              </a:rPr>
              <a:t> Choose Thai or English</a:t>
            </a:r>
            <a:endParaRPr b="0" lang="en-US" sz="1300" spc="-1" strike="noStrike">
              <a:solidFill>
                <a:srgbClr val="000000"/>
              </a:solidFill>
              <a:latin typeface="Arial"/>
            </a:endParaRPr>
          </a:p>
        </p:txBody>
      </p:sp>
      <p:sp>
        <p:nvSpPr>
          <p:cNvPr id="88" name="Image 1"/>
          <p:cNvSpPr/>
          <p:nvPr/>
        </p:nvSpPr>
        <p:spPr>
          <a:xfrm>
            <a:off x="3016080" y="2296800"/>
            <a:ext cx="1815480" cy="2742480"/>
          </a:xfrm>
          <a:prstGeom prst="roundRect">
            <a:avLst>
              <a:gd name="adj" fmla="val 8042"/>
            </a:avLst>
          </a:pr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9" name="Shape 4"/>
          <p:cNvSpPr/>
          <p:nvPr/>
        </p:nvSpPr>
        <p:spPr>
          <a:xfrm>
            <a:off x="3000240" y="2280960"/>
            <a:ext cx="1847160" cy="2774160"/>
          </a:xfrm>
          <a:prstGeom prst="roundRect">
            <a:avLst>
              <a:gd name="adj" fmla="val 8763"/>
            </a:avLst>
          </a:prstGeom>
          <a:noFill/>
          <a:ln w="31750">
            <a:solidFill>
              <a:srgbClr val="1f1a14"/>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0" name="Text 5"/>
          <p:cNvSpPr/>
          <p:nvPr/>
        </p:nvSpPr>
        <p:spPr>
          <a:xfrm>
            <a:off x="2984400" y="5173200"/>
            <a:ext cx="1935360" cy="668520"/>
          </a:xfrm>
          <a:prstGeom prst="rect">
            <a:avLst/>
          </a:prstGeom>
          <a:noFill/>
          <a:ln w="0">
            <a:noFill/>
          </a:ln>
        </p:spPr>
        <p:style>
          <a:lnRef idx="0"/>
          <a:fillRef idx="0"/>
          <a:effectRef idx="0"/>
          <a:fontRef idx="minor"/>
        </p:style>
        <p:txBody>
          <a:bodyPr lIns="0" rIns="0" tIns="0" bIns="0" anchor="t">
            <a:normAutofit/>
          </a:bodyPr>
          <a:p>
            <a:pPr defTabSz="914400">
              <a:lnSpc>
                <a:spcPts val="1689"/>
              </a:lnSpc>
              <a:tabLst>
                <a:tab algn="l" pos="0"/>
              </a:tabLst>
            </a:pPr>
            <a:r>
              <a:rPr b="1" lang="en-US" sz="1300" spc="-1" strike="noStrike">
                <a:solidFill>
                  <a:srgbClr val="0c5341"/>
                </a:solidFill>
                <a:latin typeface="Sarabun"/>
                <a:ea typeface="Sarabun"/>
              </a:rPr>
              <a:t>2.</a:t>
            </a:r>
            <a:r>
              <a:rPr b="0" lang="en-US" sz="1300" spc="-1" strike="noStrike">
                <a:solidFill>
                  <a:srgbClr val="0c5341"/>
                </a:solidFill>
                <a:latin typeface="Sarabun"/>
                <a:ea typeface="Sarabun"/>
              </a:rPr>
              <a:t> Thai local, or from abroad?</a:t>
            </a:r>
            <a:endParaRPr b="0" lang="en-US" sz="1300" spc="-1" strike="noStrike">
              <a:solidFill>
                <a:srgbClr val="000000"/>
              </a:solidFill>
              <a:latin typeface="Arial"/>
            </a:endParaRPr>
          </a:p>
        </p:txBody>
      </p:sp>
      <p:sp>
        <p:nvSpPr>
          <p:cNvPr id="91" name="Image 2"/>
          <p:cNvSpPr/>
          <p:nvPr/>
        </p:nvSpPr>
        <p:spPr>
          <a:xfrm>
            <a:off x="5187960" y="2296800"/>
            <a:ext cx="1815480" cy="2742480"/>
          </a:xfrm>
          <a:prstGeom prst="roundRect">
            <a:avLst>
              <a:gd name="adj" fmla="val 8042"/>
            </a:avLst>
          </a:pr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2" name="Shape 6"/>
          <p:cNvSpPr/>
          <p:nvPr/>
        </p:nvSpPr>
        <p:spPr>
          <a:xfrm>
            <a:off x="5172120" y="2280960"/>
            <a:ext cx="1847160" cy="2774160"/>
          </a:xfrm>
          <a:prstGeom prst="roundRect">
            <a:avLst>
              <a:gd name="adj" fmla="val 8763"/>
            </a:avLst>
          </a:prstGeom>
          <a:noFill/>
          <a:ln w="31750">
            <a:solidFill>
              <a:srgbClr val="1f1a14"/>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3" name="Text 7"/>
          <p:cNvSpPr/>
          <p:nvPr/>
        </p:nvSpPr>
        <p:spPr>
          <a:xfrm>
            <a:off x="5156280" y="5173200"/>
            <a:ext cx="1935360" cy="668520"/>
          </a:xfrm>
          <a:prstGeom prst="rect">
            <a:avLst/>
          </a:prstGeom>
          <a:noFill/>
          <a:ln w="0">
            <a:noFill/>
          </a:ln>
        </p:spPr>
        <p:style>
          <a:lnRef idx="0"/>
          <a:fillRef idx="0"/>
          <a:effectRef idx="0"/>
          <a:fontRef idx="minor"/>
        </p:style>
        <p:txBody>
          <a:bodyPr lIns="0" rIns="0" tIns="0" bIns="0" anchor="t">
            <a:normAutofit/>
          </a:bodyPr>
          <a:p>
            <a:pPr defTabSz="914400">
              <a:lnSpc>
                <a:spcPts val="1689"/>
              </a:lnSpc>
              <a:tabLst>
                <a:tab algn="l" pos="0"/>
              </a:tabLst>
            </a:pPr>
            <a:r>
              <a:rPr b="1" lang="en-US" sz="1300" spc="-1" strike="noStrike">
                <a:solidFill>
                  <a:srgbClr val="0c5341"/>
                </a:solidFill>
                <a:latin typeface="Sarabun"/>
                <a:ea typeface="Sarabun"/>
              </a:rPr>
              <a:t>3.</a:t>
            </a:r>
            <a:r>
              <a:rPr b="0" lang="en-US" sz="1300" spc="-1" strike="noStrike">
                <a:solidFill>
                  <a:srgbClr val="0c5341"/>
                </a:solidFill>
                <a:latin typeface="Sarabun"/>
                <a:ea typeface="Sarabun"/>
              </a:rPr>
              <a:t> What you can share</a:t>
            </a:r>
            <a:endParaRPr b="0" lang="en-US" sz="1300" spc="-1" strike="noStrike">
              <a:solidFill>
                <a:srgbClr val="000000"/>
              </a:solidFill>
              <a:latin typeface="Arial"/>
            </a:endParaRPr>
          </a:p>
        </p:txBody>
      </p:sp>
      <p:sp>
        <p:nvSpPr>
          <p:cNvPr id="94" name="Image 3"/>
          <p:cNvSpPr/>
          <p:nvPr/>
        </p:nvSpPr>
        <p:spPr>
          <a:xfrm>
            <a:off x="7359480" y="2296800"/>
            <a:ext cx="1815480" cy="2742480"/>
          </a:xfrm>
          <a:prstGeom prst="roundRect">
            <a:avLst>
              <a:gd name="adj" fmla="val 8042"/>
            </a:avLst>
          </a:pr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5" name="Shape 8"/>
          <p:cNvSpPr/>
          <p:nvPr/>
        </p:nvSpPr>
        <p:spPr>
          <a:xfrm>
            <a:off x="7343640" y="2280960"/>
            <a:ext cx="1847160" cy="2774160"/>
          </a:xfrm>
          <a:prstGeom prst="roundRect">
            <a:avLst>
              <a:gd name="adj" fmla="val 8763"/>
            </a:avLst>
          </a:prstGeom>
          <a:noFill/>
          <a:ln w="31750">
            <a:solidFill>
              <a:srgbClr val="1f1a14"/>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6" name="Text 9"/>
          <p:cNvSpPr/>
          <p:nvPr/>
        </p:nvSpPr>
        <p:spPr>
          <a:xfrm>
            <a:off x="7327800" y="5173200"/>
            <a:ext cx="1935360" cy="668520"/>
          </a:xfrm>
          <a:prstGeom prst="rect">
            <a:avLst/>
          </a:prstGeom>
          <a:noFill/>
          <a:ln w="0">
            <a:noFill/>
          </a:ln>
        </p:spPr>
        <p:style>
          <a:lnRef idx="0"/>
          <a:fillRef idx="0"/>
          <a:effectRef idx="0"/>
          <a:fontRef idx="minor"/>
        </p:style>
        <p:txBody>
          <a:bodyPr lIns="0" rIns="0" tIns="0" bIns="0" anchor="t">
            <a:normAutofit/>
          </a:bodyPr>
          <a:p>
            <a:pPr defTabSz="914400">
              <a:lnSpc>
                <a:spcPts val="1689"/>
              </a:lnSpc>
              <a:tabLst>
                <a:tab algn="l" pos="0"/>
              </a:tabLst>
            </a:pPr>
            <a:r>
              <a:rPr b="1" lang="en-US" sz="1300" spc="-1" strike="noStrike">
                <a:solidFill>
                  <a:srgbClr val="0c5341"/>
                </a:solidFill>
                <a:latin typeface="Sarabun"/>
                <a:ea typeface="Sarabun"/>
              </a:rPr>
              <a:t>4.</a:t>
            </a:r>
            <a:r>
              <a:rPr b="0" lang="en-US" sz="1300" spc="-1" strike="noStrike">
                <a:solidFill>
                  <a:srgbClr val="0c5341"/>
                </a:solidFill>
                <a:latin typeface="Sarabun"/>
                <a:ea typeface="Sarabun"/>
              </a:rPr>
              <a:t> What you'd like to learn</a:t>
            </a:r>
            <a:endParaRPr b="0" lang="en-US" sz="1300" spc="-1" strike="noStrike">
              <a:solidFill>
                <a:srgbClr val="000000"/>
              </a:solidFill>
              <a:latin typeface="Arial"/>
            </a:endParaRPr>
          </a:p>
        </p:txBody>
      </p:sp>
      <p:sp>
        <p:nvSpPr>
          <p:cNvPr id="97" name="Image 4"/>
          <p:cNvSpPr/>
          <p:nvPr/>
        </p:nvSpPr>
        <p:spPr>
          <a:xfrm>
            <a:off x="9531360" y="2296800"/>
            <a:ext cx="1815480" cy="2673000"/>
          </a:xfrm>
          <a:prstGeom prst="roundRect">
            <a:avLst>
              <a:gd name="adj" fmla="val 8042"/>
            </a:avLst>
          </a:prstGeom>
          <a:blipFill rotWithShape="0">
            <a:blip r:embed="rId5"/>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8" name="Shape 10"/>
          <p:cNvSpPr/>
          <p:nvPr/>
        </p:nvSpPr>
        <p:spPr>
          <a:xfrm>
            <a:off x="9515520" y="2280960"/>
            <a:ext cx="1847160" cy="2704680"/>
          </a:xfrm>
          <a:prstGeom prst="roundRect">
            <a:avLst>
              <a:gd name="adj" fmla="val 8763"/>
            </a:avLst>
          </a:prstGeom>
          <a:noFill/>
          <a:ln w="31750">
            <a:solidFill>
              <a:srgbClr val="1f1a14"/>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9" name="Text 11"/>
          <p:cNvSpPr/>
          <p:nvPr/>
        </p:nvSpPr>
        <p:spPr>
          <a:xfrm>
            <a:off x="9499680" y="5103720"/>
            <a:ext cx="1935360" cy="966240"/>
          </a:xfrm>
          <a:prstGeom prst="rect">
            <a:avLst/>
          </a:prstGeom>
          <a:noFill/>
          <a:ln w="0">
            <a:noFill/>
          </a:ln>
        </p:spPr>
        <p:style>
          <a:lnRef idx="0"/>
          <a:fillRef idx="0"/>
          <a:effectRef idx="0"/>
          <a:fontRef idx="minor"/>
        </p:style>
        <p:txBody>
          <a:bodyPr lIns="0" rIns="0" tIns="0" bIns="0" anchor="t">
            <a:normAutofit/>
          </a:bodyPr>
          <a:p>
            <a:pPr defTabSz="914400">
              <a:lnSpc>
                <a:spcPts val="1647"/>
              </a:lnSpc>
              <a:tabLst>
                <a:tab algn="l" pos="0"/>
              </a:tabLst>
            </a:pPr>
            <a:r>
              <a:rPr b="1" lang="en-US" sz="1270" spc="-1" strike="noStrike">
                <a:solidFill>
                  <a:srgbClr val="0c5341"/>
                </a:solidFill>
                <a:latin typeface="Sarabun"/>
                <a:ea typeface="Sarabun"/>
              </a:rPr>
              <a:t>5.</a:t>
            </a:r>
            <a:r>
              <a:rPr b="0" lang="en-US" sz="1270" spc="-1" strike="noStrike">
                <a:solidFill>
                  <a:srgbClr val="0c5341"/>
                </a:solidFill>
                <a:latin typeface="Sarabun"/>
                <a:ea typeface="Sarabun"/>
              </a:rPr>
              <a:t> About you, in your own language</a:t>
            </a:r>
            <a:endParaRPr b="0" lang="en-US" sz="127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caa16"/>
        </a:solidFill>
      </p:bgPr>
    </p:bg>
    <p:spTree>
      <p:nvGrpSpPr>
        <p:cNvPr id="1" name=""/>
        <p:cNvGrpSpPr/>
        <p:nvPr/>
      </p:nvGrpSpPr>
      <p:grpSpPr>
        <a:xfrm>
          <a:off x="0" y="0"/>
          <a:ext cx="0" cy="0"/>
          <a:chOff x="0" y="0"/>
          <a:chExt cx="0" cy="0"/>
        </a:xfrm>
      </p:grpSpPr>
      <p:sp>
        <p:nvSpPr>
          <p:cNvPr id="100" name="Text 0"/>
          <p:cNvSpPr/>
          <p:nvPr/>
        </p:nvSpPr>
        <p:spPr>
          <a:xfrm>
            <a:off x="812880" y="1029960"/>
            <a:ext cx="6199560" cy="424800"/>
          </a:xfrm>
          <a:prstGeom prst="rect">
            <a:avLst/>
          </a:prstGeom>
          <a:noFill/>
          <a:ln w="0">
            <a:noFill/>
          </a:ln>
        </p:spPr>
        <p:style>
          <a:lnRef idx="0"/>
          <a:fillRef idx="0"/>
          <a:effectRef idx="0"/>
          <a:fontRef idx="minor"/>
        </p:style>
        <p:txBody>
          <a:bodyPr lIns="0" rIns="0" tIns="0" bIns="0" anchor="t">
            <a:normAutofit/>
          </a:bodyPr>
          <a:p>
            <a:pPr defTabSz="914400">
              <a:lnSpc>
                <a:spcPts val="2100"/>
              </a:lnSpc>
              <a:tabLst>
                <a:tab algn="l" pos="0"/>
              </a:tabLst>
            </a:pPr>
            <a:r>
              <a:rPr b="1" lang="en-US" sz="1500" spc="197" strike="noStrike">
                <a:solidFill>
                  <a:srgbClr val="0c5341"/>
                </a:solidFill>
                <a:latin typeface="Sarabun"/>
                <a:ea typeface="Sarabun"/>
              </a:rPr>
              <a:t>TRY IT NOW</a:t>
            </a:r>
            <a:endParaRPr b="0" lang="en-US" sz="1500" spc="-1" strike="noStrike">
              <a:solidFill>
                <a:srgbClr val="000000"/>
              </a:solidFill>
              <a:latin typeface="Arial"/>
            </a:endParaRPr>
          </a:p>
        </p:txBody>
      </p:sp>
      <p:sp>
        <p:nvSpPr>
          <p:cNvPr id="101" name="Text 1"/>
          <p:cNvSpPr/>
          <p:nvPr/>
        </p:nvSpPr>
        <p:spPr>
          <a:xfrm>
            <a:off x="812880" y="1633320"/>
            <a:ext cx="6199560" cy="2987280"/>
          </a:xfrm>
          <a:prstGeom prst="rect">
            <a:avLst/>
          </a:prstGeom>
          <a:noFill/>
          <a:ln w="0">
            <a:noFill/>
          </a:ln>
        </p:spPr>
        <p:style>
          <a:lnRef idx="0"/>
          <a:fillRef idx="0"/>
          <a:effectRef idx="0"/>
          <a:fontRef idx="minor"/>
        </p:style>
        <p:txBody>
          <a:bodyPr lIns="0" rIns="0" tIns="0" bIns="0" anchor="t">
            <a:normAutofit/>
          </a:bodyPr>
          <a:p>
            <a:pPr defTabSz="914400">
              <a:lnSpc>
                <a:spcPts val="5185"/>
              </a:lnSpc>
              <a:tabLst>
                <a:tab algn="l" pos="0"/>
              </a:tabLst>
            </a:pPr>
            <a:r>
              <a:rPr b="1" lang="en-US" sz="4800" spc="-1" strike="noStrike">
                <a:solidFill>
                  <a:srgbClr val="0c5341"/>
                </a:solidFill>
                <a:latin typeface="Kanit"/>
                <a:ea typeface="Kanit"/>
              </a:rPr>
              <a:t>Let's try it and see how easy it is.</a:t>
            </a:r>
            <a:endParaRPr b="0" lang="en-US" sz="4800" spc="-1" strike="noStrike">
              <a:solidFill>
                <a:srgbClr val="000000"/>
              </a:solidFill>
              <a:latin typeface="Arial"/>
            </a:endParaRPr>
          </a:p>
        </p:txBody>
      </p:sp>
      <p:sp>
        <p:nvSpPr>
          <p:cNvPr id="102" name="Text 2"/>
          <p:cNvSpPr/>
          <p:nvPr/>
        </p:nvSpPr>
        <p:spPr>
          <a:xfrm>
            <a:off x="812880" y="4799160"/>
            <a:ext cx="6199560" cy="1053360"/>
          </a:xfrm>
          <a:prstGeom prst="rect">
            <a:avLst/>
          </a:prstGeom>
          <a:noFill/>
          <a:ln w="0">
            <a:noFill/>
          </a:ln>
        </p:spPr>
        <p:style>
          <a:lnRef idx="0"/>
          <a:fillRef idx="0"/>
          <a:effectRef idx="0"/>
          <a:fontRef idx="minor"/>
        </p:style>
        <p:txBody>
          <a:bodyPr lIns="0" rIns="0" tIns="0" bIns="0" anchor="t">
            <a:normAutofit/>
          </a:bodyPr>
          <a:p>
            <a:pPr defTabSz="914400">
              <a:lnSpc>
                <a:spcPts val="2701"/>
              </a:lnSpc>
              <a:tabLst>
                <a:tab algn="l" pos="0"/>
              </a:tabLst>
            </a:pPr>
            <a:r>
              <a:rPr b="0" lang="en-US" sz="2000" spc="-1" strike="noStrike">
                <a:solidFill>
                  <a:srgbClr val="0c5341"/>
                </a:solidFill>
                <a:latin typeface="Sarabun"/>
                <a:ea typeface="Sarabun"/>
              </a:rPr>
              <a:t>Scan the code with your phone </a:t>
            </a:r>
            <a:r>
              <a:rPr b="0" lang="en-US" sz="2000" spc="-1" strike="noStrike">
                <a:solidFill>
                  <a:srgbClr val="0c5341"/>
                </a:solidFill>
                <a:latin typeface="Sarabun"/>
                <a:ea typeface="Sarabun"/>
              </a:rPr>
              <a:t>and join in under a minute.</a:t>
            </a:r>
            <a:endParaRPr b="0" lang="en-US" sz="2000" spc="-1" strike="noStrike">
              <a:solidFill>
                <a:srgbClr val="000000"/>
              </a:solidFill>
              <a:latin typeface="Arial"/>
            </a:endParaRPr>
          </a:p>
        </p:txBody>
      </p:sp>
      <p:sp>
        <p:nvSpPr>
          <p:cNvPr id="103" name="Shape 3"/>
          <p:cNvSpPr/>
          <p:nvPr/>
        </p:nvSpPr>
        <p:spPr>
          <a:xfrm>
            <a:off x="7340760" y="1017360"/>
            <a:ext cx="4037760" cy="4037760"/>
          </a:xfrm>
          <a:prstGeom prst="roundRect">
            <a:avLst>
              <a:gd name="adj" fmla="val 5031"/>
            </a:avLst>
          </a:prstGeom>
          <a:solidFill>
            <a:srgbClr val="fffbf3"/>
          </a:solidFill>
          <a:ln w="0">
            <a:noFill/>
          </a:ln>
          <a:effectLst>
            <a:outerShdw algn="bl" blurRad="304920" dir="5400000" dist="101520" kx="0" ky="0" rotWithShape="0" sx="100000" sy="100000">
              <a:srgbClr val="0c5341">
                <a:alpha val="25000"/>
              </a:srgbClr>
            </a:outerShdw>
          </a:effectLst>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4" name="Image 0" descr="QR code linking to the Bpai Duay Gan app install page"/>
          <p:cNvPicPr/>
          <p:nvPr/>
        </p:nvPicPr>
        <p:blipFill>
          <a:blip r:embed="rId1"/>
          <a:stretch/>
        </p:blipFill>
        <p:spPr>
          <a:xfrm>
            <a:off x="7518240" y="1195200"/>
            <a:ext cx="3682440" cy="3682440"/>
          </a:xfrm>
          <a:prstGeom prst="rect">
            <a:avLst/>
          </a:prstGeom>
          <a:ln w="0">
            <a:noFill/>
          </a:ln>
        </p:spPr>
      </p:pic>
      <p:sp>
        <p:nvSpPr>
          <p:cNvPr id="105" name="Shape 4"/>
          <p:cNvSpPr/>
          <p:nvPr/>
        </p:nvSpPr>
        <p:spPr>
          <a:xfrm>
            <a:off x="8096760" y="5208120"/>
            <a:ext cx="2525400" cy="631800"/>
          </a:xfrm>
          <a:prstGeom prst="roundRect">
            <a:avLst>
              <a:gd name="adj" fmla="val 40162"/>
            </a:avLst>
          </a:prstGeom>
          <a:solidFill>
            <a:srgbClr val="0c5341"/>
          </a:solidFill>
          <a:ln w="0">
            <a:noFill/>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06" name="Text 5">
            <a:hlinkClick r:id="rId2"/>
          </p:cNvPr>
          <p:cNvSpPr/>
          <p:nvPr/>
        </p:nvSpPr>
        <p:spPr>
          <a:xfrm>
            <a:off x="8350920" y="5284440"/>
            <a:ext cx="2077920" cy="504720"/>
          </a:xfrm>
          <a:prstGeom prst="rect">
            <a:avLst/>
          </a:prstGeom>
          <a:noFill/>
          <a:ln w="0">
            <a:noFill/>
          </a:ln>
        </p:spPr>
        <p:style>
          <a:lnRef idx="0"/>
          <a:fillRef idx="0"/>
          <a:effectRef idx="0"/>
          <a:fontRef idx="minor"/>
        </p:style>
        <p:txBody>
          <a:bodyPr wrap="none" lIns="0" rIns="0" tIns="0" bIns="0" anchor="t">
            <a:normAutofit/>
          </a:bodyPr>
          <a:p>
            <a:pPr defTabSz="914400">
              <a:lnSpc>
                <a:spcPts val="2520"/>
              </a:lnSpc>
              <a:tabLst>
                <a:tab algn="l" pos="0"/>
              </a:tabLst>
            </a:pPr>
            <a:r>
              <a:rPr b="1" lang="en-US" sz="1800" spc="-1" strike="noStrike" u="sng">
                <a:solidFill>
                  <a:srgbClr val="0563c1"/>
                </a:solidFill>
                <a:uFillTx/>
                <a:latin typeface="Kanit"/>
                <a:ea typeface="Kanit"/>
                <a:hlinkClick r:id="rId3"/>
              </a:rPr>
              <a:t>▶ Live demo</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eedf"/>
        </a:solidFill>
      </p:bgPr>
    </p:bg>
    <p:spTree>
      <p:nvGrpSpPr>
        <p:cNvPr id="1" name=""/>
        <p:cNvGrpSpPr/>
        <p:nvPr/>
      </p:nvGrpSpPr>
      <p:grpSpPr>
        <a:xfrm>
          <a:off x="0" y="0"/>
          <a:ext cx="0" cy="0"/>
          <a:chOff x="0" y="0"/>
          <a:chExt cx="0" cy="0"/>
        </a:xfrm>
      </p:grpSpPr>
      <p:sp>
        <p:nvSpPr>
          <p:cNvPr id="107" name="Text 0"/>
          <p:cNvSpPr/>
          <p:nvPr/>
        </p:nvSpPr>
        <p:spPr>
          <a:xfrm>
            <a:off x="812880" y="711360"/>
            <a:ext cx="10882800" cy="3715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45" strike="noStrike">
                <a:solidFill>
                  <a:srgbClr val="a33a08"/>
                </a:solidFill>
                <a:latin typeface="Sarabun"/>
                <a:ea typeface="Sarabun"/>
              </a:rPr>
              <a:t>THAI-FRIENDLY EVENTS</a:t>
            </a:r>
            <a:endParaRPr b="0" lang="en-US" sz="1300" spc="-1" strike="noStrike">
              <a:solidFill>
                <a:srgbClr val="000000"/>
              </a:solidFill>
              <a:latin typeface="Arial"/>
            </a:endParaRPr>
          </a:p>
        </p:txBody>
      </p:sp>
      <p:sp>
        <p:nvSpPr>
          <p:cNvPr id="108" name="Text 1"/>
          <p:cNvSpPr/>
          <p:nvPr/>
        </p:nvSpPr>
        <p:spPr>
          <a:xfrm>
            <a:off x="812880" y="1159560"/>
            <a:ext cx="10882800" cy="1365840"/>
          </a:xfrm>
          <a:prstGeom prst="rect">
            <a:avLst/>
          </a:prstGeom>
          <a:noFill/>
          <a:ln w="0">
            <a:noFill/>
          </a:ln>
        </p:spPr>
        <p:style>
          <a:lnRef idx="0"/>
          <a:fillRef idx="0"/>
          <a:effectRef idx="0"/>
          <a:fontRef idx="minor"/>
        </p:style>
        <p:txBody>
          <a:bodyPr lIns="0" rIns="0" tIns="0" bIns="0" anchor="t">
            <a:normAutofit/>
          </a:bodyPr>
          <a:p>
            <a:pPr defTabSz="914400">
              <a:lnSpc>
                <a:spcPts val="3521"/>
              </a:lnSpc>
              <a:tabLst>
                <a:tab algn="l" pos="0"/>
              </a:tabLst>
            </a:pPr>
            <a:r>
              <a:rPr b="1" lang="en-US" sz="3200" spc="-1" strike="noStrike">
                <a:solidFill>
                  <a:srgbClr val="0c5341"/>
                </a:solidFill>
                <a:latin typeface="Kanit"/>
                <a:ea typeface="Kanit"/>
              </a:rPr>
              <a:t>Every event checked: is it Thai-friendly?</a:t>
            </a:r>
            <a:endParaRPr b="0" lang="en-US" sz="3200" spc="-1" strike="noStrike">
              <a:solidFill>
                <a:srgbClr val="000000"/>
              </a:solidFill>
              <a:latin typeface="Arial"/>
            </a:endParaRPr>
          </a:p>
        </p:txBody>
      </p:sp>
      <p:sp>
        <p:nvSpPr>
          <p:cNvPr id="109" name="Shape 2"/>
          <p:cNvSpPr/>
          <p:nvPr/>
        </p:nvSpPr>
        <p:spPr>
          <a:xfrm>
            <a:off x="819000" y="2811600"/>
            <a:ext cx="2240280" cy="1926000"/>
          </a:xfrm>
          <a:prstGeom prst="roundRect">
            <a:avLst>
              <a:gd name="adj" fmla="val 7580"/>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10" name="Image 0" descr="Search"/>
          <p:cNvPicPr/>
          <p:nvPr/>
        </p:nvPicPr>
        <p:blipFill>
          <a:blip r:embed="rId1"/>
          <a:srcRect l="0" t="-324" r="0" b="-324"/>
          <a:stretch/>
        </p:blipFill>
        <p:spPr>
          <a:xfrm>
            <a:off x="1711080" y="3070800"/>
            <a:ext cx="456480" cy="222840"/>
          </a:xfrm>
          <a:prstGeom prst="rect">
            <a:avLst/>
          </a:prstGeom>
          <a:ln w="0">
            <a:noFill/>
          </a:ln>
        </p:spPr>
      </p:pic>
      <p:sp>
        <p:nvSpPr>
          <p:cNvPr id="111" name="Text 3"/>
          <p:cNvSpPr/>
          <p:nvPr/>
        </p:nvSpPr>
        <p:spPr>
          <a:xfrm>
            <a:off x="975960" y="3421440"/>
            <a:ext cx="1926360" cy="427320"/>
          </a:xfrm>
          <a:prstGeom prst="rect">
            <a:avLst/>
          </a:prstGeom>
          <a:noFill/>
          <a:ln w="0">
            <a:noFill/>
          </a:ln>
        </p:spPr>
        <p:style>
          <a:lnRef idx="0"/>
          <a:fillRef idx="0"/>
          <a:effectRef idx="0"/>
          <a:fontRef idx="minor"/>
        </p:style>
        <p:txBody>
          <a:bodyPr lIns="0" rIns="0" tIns="0" bIns="0" anchor="t">
            <a:normAutofit/>
          </a:bodyPr>
          <a:p>
            <a:pPr algn="ctr" defTabSz="914400">
              <a:lnSpc>
                <a:spcPts val="1505"/>
              </a:lnSpc>
              <a:tabLst>
                <a:tab algn="l" pos="0"/>
              </a:tabLst>
            </a:pPr>
            <a:r>
              <a:rPr b="1" lang="en-US" sz="1260" spc="-1" strike="noStrike">
                <a:solidFill>
                  <a:srgbClr val="0c5341"/>
                </a:solidFill>
                <a:latin typeface="Kanit"/>
                <a:ea typeface="Kanit"/>
              </a:rPr>
              <a:t>We find the event</a:t>
            </a:r>
            <a:endParaRPr b="0" lang="en-US" sz="1260" spc="-1" strike="noStrike">
              <a:solidFill>
                <a:srgbClr val="000000"/>
              </a:solidFill>
              <a:latin typeface="Arial"/>
            </a:endParaRPr>
          </a:p>
        </p:txBody>
      </p:sp>
      <p:sp>
        <p:nvSpPr>
          <p:cNvPr id="112" name="Text 4"/>
          <p:cNvSpPr/>
          <p:nvPr/>
        </p:nvSpPr>
        <p:spPr>
          <a:xfrm>
            <a:off x="974160" y="3951000"/>
            <a:ext cx="1930680" cy="552960"/>
          </a:xfrm>
          <a:prstGeom prst="rect">
            <a:avLst/>
          </a:prstGeom>
          <a:noFill/>
          <a:ln w="0">
            <a:noFill/>
          </a:ln>
        </p:spPr>
        <p:style>
          <a:lnRef idx="0"/>
          <a:fillRef idx="0"/>
          <a:effectRef idx="0"/>
          <a:fontRef idx="minor"/>
        </p:style>
        <p:txBody>
          <a:bodyPr lIns="0" rIns="0" tIns="0" bIns="0" anchor="t">
            <a:normAutofit/>
          </a:bodyPr>
          <a:p>
            <a:pPr algn="ctr" defTabSz="914400">
              <a:lnSpc>
                <a:spcPts val="1389"/>
              </a:lnSpc>
              <a:tabLst>
                <a:tab algn="l" pos="0"/>
              </a:tabLst>
            </a:pPr>
            <a:r>
              <a:rPr b="0" lang="en-US" sz="1030" spc="-1" strike="noStrike">
                <a:solidFill>
                  <a:srgbClr val="4d5048"/>
                </a:solidFill>
                <a:latin typeface="Sarabun"/>
                <a:ea typeface="Sarabun"/>
              </a:rPr>
              <a:t>From nomad and local platforms</a:t>
            </a:r>
            <a:endParaRPr b="0" lang="en-US" sz="1030" spc="-1" strike="noStrike">
              <a:solidFill>
                <a:srgbClr val="000000"/>
              </a:solidFill>
              <a:latin typeface="Arial"/>
            </a:endParaRPr>
          </a:p>
        </p:txBody>
      </p:sp>
      <p:pic>
        <p:nvPicPr>
          <p:cNvPr id="113" name="Image 1" descr="arrow-right"/>
          <p:cNvPicPr/>
          <p:nvPr/>
        </p:nvPicPr>
        <p:blipFill>
          <a:blip r:embed="rId2"/>
          <a:stretch/>
        </p:blipFill>
        <p:spPr>
          <a:xfrm>
            <a:off x="3168000" y="3673440"/>
            <a:ext cx="304200" cy="202320"/>
          </a:xfrm>
          <a:prstGeom prst="rect">
            <a:avLst/>
          </a:prstGeom>
          <a:ln w="0">
            <a:noFill/>
          </a:ln>
        </p:spPr>
      </p:pic>
      <p:sp>
        <p:nvSpPr>
          <p:cNvPr id="114" name="Shape 5"/>
          <p:cNvSpPr/>
          <p:nvPr/>
        </p:nvSpPr>
        <p:spPr>
          <a:xfrm>
            <a:off x="3580920" y="2811600"/>
            <a:ext cx="2240280" cy="1926000"/>
          </a:xfrm>
          <a:prstGeom prst="roundRect">
            <a:avLst>
              <a:gd name="adj" fmla="val 7580"/>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15" name="Image 2" descr="PaperPlane"/>
          <p:cNvPicPr/>
          <p:nvPr/>
        </p:nvPicPr>
        <p:blipFill>
          <a:blip r:embed="rId3"/>
          <a:srcRect l="0" t="-667" r="0" b="-667"/>
          <a:stretch/>
        </p:blipFill>
        <p:spPr>
          <a:xfrm>
            <a:off x="4472640" y="3070800"/>
            <a:ext cx="456480" cy="218160"/>
          </a:xfrm>
          <a:prstGeom prst="rect">
            <a:avLst/>
          </a:prstGeom>
          <a:ln w="0">
            <a:noFill/>
          </a:ln>
        </p:spPr>
      </p:pic>
      <p:sp>
        <p:nvSpPr>
          <p:cNvPr id="116" name="Text 6"/>
          <p:cNvSpPr/>
          <p:nvPr/>
        </p:nvSpPr>
        <p:spPr>
          <a:xfrm>
            <a:off x="3735720" y="3416760"/>
            <a:ext cx="1930680" cy="615600"/>
          </a:xfrm>
          <a:prstGeom prst="rect">
            <a:avLst/>
          </a:prstGeom>
          <a:noFill/>
          <a:ln w="0">
            <a:noFill/>
          </a:ln>
        </p:spPr>
        <p:style>
          <a:lnRef idx="0"/>
          <a:fillRef idx="0"/>
          <a:effectRef idx="0"/>
          <a:fontRef idx="minor"/>
        </p:style>
        <p:txBody>
          <a:bodyPr lIns="0" rIns="0" tIns="0" bIns="0" anchor="t">
            <a:normAutofit/>
          </a:bodyPr>
          <a:p>
            <a:pPr algn="ctr" defTabSz="914400">
              <a:lnSpc>
                <a:spcPts val="1553"/>
              </a:lnSpc>
              <a:tabLst>
                <a:tab algn="l" pos="0"/>
              </a:tabLst>
            </a:pPr>
            <a:r>
              <a:rPr b="1" lang="en-US" sz="1300" spc="-1" strike="noStrike">
                <a:solidFill>
                  <a:srgbClr val="0c5341"/>
                </a:solidFill>
                <a:latin typeface="Kanit"/>
                <a:ea typeface="Kanit"/>
              </a:rPr>
              <a:t>We email the organiser</a:t>
            </a:r>
            <a:endParaRPr b="0" lang="en-US" sz="1300" spc="-1" strike="noStrike">
              <a:solidFill>
                <a:srgbClr val="000000"/>
              </a:solidFill>
              <a:latin typeface="Arial"/>
            </a:endParaRPr>
          </a:p>
        </p:txBody>
      </p:sp>
      <p:sp>
        <p:nvSpPr>
          <p:cNvPr id="117" name="Text 7"/>
          <p:cNvSpPr/>
          <p:nvPr/>
        </p:nvSpPr>
        <p:spPr>
          <a:xfrm>
            <a:off x="3738600" y="4134600"/>
            <a:ext cx="1924920" cy="369360"/>
          </a:xfrm>
          <a:prstGeom prst="rect">
            <a:avLst/>
          </a:prstGeom>
          <a:noFill/>
          <a:ln w="0">
            <a:noFill/>
          </a:ln>
        </p:spPr>
        <p:style>
          <a:lnRef idx="0"/>
          <a:fillRef idx="0"/>
          <a:effectRef idx="0"/>
          <a:fontRef idx="minor"/>
        </p:style>
        <p:txBody>
          <a:bodyPr lIns="0" rIns="0" tIns="0" bIns="0" anchor="t">
            <a:normAutofit/>
          </a:bodyPr>
          <a:p>
            <a:pPr algn="ctr" defTabSz="914400">
              <a:lnSpc>
                <a:spcPts val="1423"/>
              </a:lnSpc>
              <a:tabLst>
                <a:tab algn="l" pos="0"/>
              </a:tabLst>
            </a:pPr>
            <a:r>
              <a:rPr b="0" lang="en-US" sz="1050" spc="-1" strike="noStrike">
                <a:solidFill>
                  <a:srgbClr val="4d5048"/>
                </a:solidFill>
                <a:latin typeface="Sarabun"/>
                <a:ea typeface="Sarabun"/>
              </a:rPr>
              <a:t>A few quick questions</a:t>
            </a:r>
            <a:endParaRPr b="0" lang="en-US" sz="1050" spc="-1" strike="noStrike">
              <a:solidFill>
                <a:srgbClr val="000000"/>
              </a:solidFill>
              <a:latin typeface="Arial"/>
            </a:endParaRPr>
          </a:p>
        </p:txBody>
      </p:sp>
      <p:pic>
        <p:nvPicPr>
          <p:cNvPr id="118" name="Image 3" descr="arrow-right"/>
          <p:cNvPicPr/>
          <p:nvPr/>
        </p:nvPicPr>
        <p:blipFill>
          <a:blip r:embed="rId4"/>
          <a:stretch/>
        </p:blipFill>
        <p:spPr>
          <a:xfrm>
            <a:off x="5929920" y="3673440"/>
            <a:ext cx="304200" cy="202320"/>
          </a:xfrm>
          <a:prstGeom prst="rect">
            <a:avLst/>
          </a:prstGeom>
          <a:ln w="0">
            <a:noFill/>
          </a:ln>
        </p:spPr>
      </p:pic>
      <p:sp>
        <p:nvSpPr>
          <p:cNvPr id="119" name="Shape 8"/>
          <p:cNvSpPr/>
          <p:nvPr/>
        </p:nvSpPr>
        <p:spPr>
          <a:xfrm>
            <a:off x="6342480" y="2811600"/>
            <a:ext cx="2240280" cy="1926000"/>
          </a:xfrm>
          <a:prstGeom prst="roundRect">
            <a:avLst>
              <a:gd name="adj" fmla="val 7580"/>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20" name="Image 4" descr="CheckCircle"/>
          <p:cNvPicPr/>
          <p:nvPr/>
        </p:nvPicPr>
        <p:blipFill>
          <a:blip r:embed="rId5"/>
          <a:srcRect l="0" t="-177" r="0" b="-177"/>
          <a:stretch/>
        </p:blipFill>
        <p:spPr>
          <a:xfrm>
            <a:off x="7234560" y="3070800"/>
            <a:ext cx="456480" cy="203040"/>
          </a:xfrm>
          <a:prstGeom prst="rect">
            <a:avLst/>
          </a:prstGeom>
          <a:ln w="0">
            <a:noFill/>
          </a:ln>
        </p:spPr>
      </p:pic>
      <p:sp>
        <p:nvSpPr>
          <p:cNvPr id="121" name="Text 9"/>
          <p:cNvSpPr/>
          <p:nvPr/>
        </p:nvSpPr>
        <p:spPr>
          <a:xfrm>
            <a:off x="6550200" y="3363840"/>
            <a:ext cx="1824840" cy="391680"/>
          </a:xfrm>
          <a:prstGeom prst="rect">
            <a:avLst/>
          </a:prstGeom>
          <a:noFill/>
          <a:ln w="0">
            <a:noFill/>
          </a:ln>
        </p:spPr>
        <p:style>
          <a:lnRef idx="0"/>
          <a:fillRef idx="0"/>
          <a:effectRef idx="0"/>
          <a:fontRef idx="minor"/>
        </p:style>
        <p:txBody>
          <a:bodyPr lIns="0" rIns="0" tIns="0" bIns="0" anchor="t">
            <a:normAutofit/>
          </a:bodyPr>
          <a:p>
            <a:pPr algn="ctr" defTabSz="914400">
              <a:lnSpc>
                <a:spcPts val="1945"/>
              </a:lnSpc>
              <a:tabLst>
                <a:tab algn="l" pos="0"/>
              </a:tabLst>
            </a:pPr>
            <a:r>
              <a:rPr b="1" lang="en-US" sz="1620" spc="-1" strike="noStrike">
                <a:solidFill>
                  <a:srgbClr val="0c5341"/>
                </a:solidFill>
                <a:latin typeface="Kanit"/>
                <a:ea typeface="Kanit"/>
              </a:rPr>
              <a:t>They answer</a:t>
            </a:r>
            <a:endParaRPr b="0" lang="en-US" sz="1620" spc="-1" strike="noStrike">
              <a:solidFill>
                <a:srgbClr val="000000"/>
              </a:solidFill>
              <a:latin typeface="Arial"/>
            </a:endParaRPr>
          </a:p>
        </p:txBody>
      </p:sp>
      <p:sp>
        <p:nvSpPr>
          <p:cNvPr id="122" name="Text 10"/>
          <p:cNvSpPr/>
          <p:nvPr/>
        </p:nvSpPr>
        <p:spPr>
          <a:xfrm>
            <a:off x="7076160" y="3819600"/>
            <a:ext cx="772920" cy="185400"/>
          </a:xfrm>
          <a:prstGeom prst="rect">
            <a:avLst/>
          </a:prstGeom>
          <a:noFill/>
          <a:ln w="0">
            <a:noFill/>
          </a:ln>
        </p:spPr>
        <p:style>
          <a:lnRef idx="0"/>
          <a:fillRef idx="0"/>
          <a:effectRef idx="0"/>
          <a:fontRef idx="minor"/>
        </p:style>
        <p:txBody>
          <a:bodyPr lIns="0" rIns="0" tIns="0" bIns="0" anchor="t">
            <a:normAutofit/>
          </a:bodyPr>
          <a:p>
            <a:pPr algn="ctr" defTabSz="914400">
              <a:lnSpc>
                <a:spcPts val="1134"/>
              </a:lnSpc>
              <a:tabLst>
                <a:tab algn="l" pos="0"/>
              </a:tabLst>
            </a:pPr>
            <a:r>
              <a:rPr b="0" lang="en-US" sz="839" spc="-1" strike="noStrike">
                <a:solidFill>
                  <a:srgbClr val="0c5341"/>
                </a:solidFill>
                <a:latin typeface="Sarabun"/>
                <a:ea typeface="Sarabun"/>
              </a:rPr>
              <a:t>Thai food?</a:t>
            </a:r>
            <a:endParaRPr b="0" lang="en-US" sz="839" spc="-1" strike="noStrike">
              <a:solidFill>
                <a:srgbClr val="000000"/>
              </a:solidFill>
              <a:latin typeface="Arial"/>
            </a:endParaRPr>
          </a:p>
        </p:txBody>
      </p:sp>
      <p:sp>
        <p:nvSpPr>
          <p:cNvPr id="123" name="Text 11"/>
          <p:cNvSpPr/>
          <p:nvPr/>
        </p:nvSpPr>
        <p:spPr>
          <a:xfrm>
            <a:off x="6890760" y="4069080"/>
            <a:ext cx="1143720" cy="185400"/>
          </a:xfrm>
          <a:prstGeom prst="rect">
            <a:avLst/>
          </a:prstGeom>
          <a:noFill/>
          <a:ln w="0">
            <a:noFill/>
          </a:ln>
        </p:spPr>
        <p:style>
          <a:lnRef idx="0"/>
          <a:fillRef idx="0"/>
          <a:effectRef idx="0"/>
          <a:fontRef idx="minor"/>
        </p:style>
        <p:txBody>
          <a:bodyPr lIns="0" rIns="0" tIns="0" bIns="0" anchor="t">
            <a:normAutofit/>
          </a:bodyPr>
          <a:p>
            <a:pPr algn="ctr" defTabSz="914400">
              <a:lnSpc>
                <a:spcPts val="1134"/>
              </a:lnSpc>
              <a:tabLst>
                <a:tab algn="l" pos="0"/>
              </a:tabLst>
            </a:pPr>
            <a:r>
              <a:rPr b="0" lang="en-US" sz="839" spc="-1" strike="noStrike">
                <a:solidFill>
                  <a:srgbClr val="0c5341"/>
                </a:solidFill>
                <a:latin typeface="Sarabun"/>
                <a:ea typeface="Sarabun"/>
              </a:rPr>
              <a:t>Thai translator?</a:t>
            </a:r>
            <a:endParaRPr b="0" lang="en-US" sz="839" spc="-1" strike="noStrike">
              <a:solidFill>
                <a:srgbClr val="000000"/>
              </a:solidFill>
              <a:latin typeface="Arial"/>
            </a:endParaRPr>
          </a:p>
        </p:txBody>
      </p:sp>
      <p:sp>
        <p:nvSpPr>
          <p:cNvPr id="124" name="Text 12"/>
          <p:cNvSpPr/>
          <p:nvPr/>
        </p:nvSpPr>
        <p:spPr>
          <a:xfrm>
            <a:off x="6881400" y="4318560"/>
            <a:ext cx="1162440" cy="185400"/>
          </a:xfrm>
          <a:prstGeom prst="rect">
            <a:avLst/>
          </a:prstGeom>
          <a:noFill/>
          <a:ln w="0">
            <a:noFill/>
          </a:ln>
        </p:spPr>
        <p:style>
          <a:lnRef idx="0"/>
          <a:fillRef idx="0"/>
          <a:effectRef idx="0"/>
          <a:fontRef idx="minor"/>
        </p:style>
        <p:txBody>
          <a:bodyPr lIns="0" rIns="0" tIns="0" bIns="0" anchor="t">
            <a:normAutofit/>
          </a:bodyPr>
          <a:p>
            <a:pPr algn="ctr" defTabSz="914400">
              <a:lnSpc>
                <a:spcPts val="1134"/>
              </a:lnSpc>
              <a:tabLst>
                <a:tab algn="l" pos="0"/>
              </a:tabLst>
            </a:pPr>
            <a:r>
              <a:rPr b="0" lang="en-US" sz="839" spc="-1" strike="noStrike">
                <a:solidFill>
                  <a:srgbClr val="0c5341"/>
                </a:solidFill>
                <a:latin typeface="Sarabun"/>
                <a:ea typeface="Sarabun"/>
              </a:rPr>
              <a:t>TCEB endorsed?</a:t>
            </a:r>
            <a:endParaRPr b="0" lang="en-US" sz="839" spc="-1" strike="noStrike">
              <a:solidFill>
                <a:srgbClr val="000000"/>
              </a:solidFill>
              <a:latin typeface="Arial"/>
            </a:endParaRPr>
          </a:p>
        </p:txBody>
      </p:sp>
      <p:pic>
        <p:nvPicPr>
          <p:cNvPr id="125" name="Image 5" descr="arrow-right"/>
          <p:cNvPicPr/>
          <p:nvPr/>
        </p:nvPicPr>
        <p:blipFill>
          <a:blip r:embed="rId6"/>
          <a:stretch/>
        </p:blipFill>
        <p:spPr>
          <a:xfrm>
            <a:off x="8691480" y="3673440"/>
            <a:ext cx="304200" cy="202320"/>
          </a:xfrm>
          <a:prstGeom prst="rect">
            <a:avLst/>
          </a:prstGeom>
          <a:ln w="0">
            <a:noFill/>
          </a:ln>
        </p:spPr>
      </p:pic>
      <p:sp>
        <p:nvSpPr>
          <p:cNvPr id="126" name="Shape 13"/>
          <p:cNvSpPr/>
          <p:nvPr/>
        </p:nvSpPr>
        <p:spPr>
          <a:xfrm>
            <a:off x="9110520" y="2818080"/>
            <a:ext cx="2255400" cy="1913400"/>
          </a:xfrm>
          <a:prstGeom prst="roundRect">
            <a:avLst>
              <a:gd name="adj" fmla="val 7299"/>
            </a:avLst>
          </a:prstGeom>
          <a:solidFill>
            <a:srgbClr val="ffd84d"/>
          </a:solidFill>
          <a:ln w="25400">
            <a:solidFill>
              <a:srgbClr val="1f1a14"/>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27" name="Image 6" descr="Verified"/>
          <p:cNvPicPr/>
          <p:nvPr/>
        </p:nvPicPr>
        <p:blipFill>
          <a:blip r:embed="rId7"/>
          <a:srcRect l="0" t="-700" r="0" b="-700"/>
          <a:stretch/>
        </p:blipFill>
        <p:spPr>
          <a:xfrm>
            <a:off x="10009800" y="3084840"/>
            <a:ext cx="456480" cy="173160"/>
          </a:xfrm>
          <a:prstGeom prst="rect">
            <a:avLst/>
          </a:prstGeom>
          <a:ln w="0">
            <a:noFill/>
          </a:ln>
        </p:spPr>
      </p:pic>
      <p:sp>
        <p:nvSpPr>
          <p:cNvPr id="128" name="Text 14"/>
          <p:cNvSpPr/>
          <p:nvPr/>
        </p:nvSpPr>
        <p:spPr>
          <a:xfrm>
            <a:off x="9273960" y="3385800"/>
            <a:ext cx="1928520" cy="337680"/>
          </a:xfrm>
          <a:prstGeom prst="rect">
            <a:avLst/>
          </a:prstGeom>
          <a:noFill/>
          <a:ln w="0">
            <a:noFill/>
          </a:ln>
        </p:spPr>
        <p:style>
          <a:lnRef idx="0"/>
          <a:fillRef idx="0"/>
          <a:effectRef idx="0"/>
          <a:fontRef idx="minor"/>
        </p:style>
        <p:txBody>
          <a:bodyPr lIns="0" rIns="0" tIns="0" bIns="0" anchor="t">
            <a:normAutofit/>
          </a:bodyPr>
          <a:p>
            <a:pPr algn="ctr" defTabSz="914400">
              <a:lnSpc>
                <a:spcPts val="1451"/>
              </a:lnSpc>
              <a:tabLst>
                <a:tab algn="l" pos="0"/>
              </a:tabLst>
            </a:pPr>
            <a:r>
              <a:rPr b="1" lang="en-US" sz="1210" spc="-1" strike="noStrike">
                <a:solidFill>
                  <a:srgbClr val="0c5341"/>
                </a:solidFill>
                <a:latin typeface="Kanit"/>
                <a:ea typeface="Kanit"/>
              </a:rPr>
              <a:t>Thais see a badge</a:t>
            </a:r>
            <a:endParaRPr b="0" lang="en-US" sz="1210" spc="-1" strike="noStrike">
              <a:solidFill>
                <a:srgbClr val="000000"/>
              </a:solidFill>
              <a:latin typeface="Arial"/>
            </a:endParaRPr>
          </a:p>
        </p:txBody>
      </p:sp>
      <p:sp>
        <p:nvSpPr>
          <p:cNvPr id="129" name="Shape 15"/>
          <p:cNvSpPr/>
          <p:nvPr/>
        </p:nvSpPr>
        <p:spPr>
          <a:xfrm>
            <a:off x="9334080" y="3825720"/>
            <a:ext cx="1808280" cy="384840"/>
          </a:xfrm>
          <a:prstGeom prst="roundRect">
            <a:avLst>
              <a:gd name="adj" fmla="val 50000"/>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30" name="Text 16"/>
          <p:cNvSpPr/>
          <p:nvPr/>
        </p:nvSpPr>
        <p:spPr>
          <a:xfrm>
            <a:off x="9435600" y="3876480"/>
            <a:ext cx="1605240" cy="308520"/>
          </a:xfrm>
          <a:prstGeom prst="rect">
            <a:avLst/>
          </a:prstGeom>
          <a:noFill/>
          <a:ln w="0">
            <a:noFill/>
          </a:ln>
        </p:spPr>
        <p:style>
          <a:lnRef idx="0"/>
          <a:fillRef idx="0"/>
          <a:effectRef idx="0"/>
          <a:fontRef idx="minor"/>
        </p:style>
        <p:txBody>
          <a:bodyPr lIns="0" rIns="0" tIns="0" bIns="0" anchor="t">
            <a:normAutofit/>
          </a:bodyPr>
          <a:p>
            <a:pPr algn="ctr" defTabSz="914400">
              <a:lnSpc>
                <a:spcPts val="1514"/>
              </a:lnSpc>
              <a:tabLst>
                <a:tab algn="l" pos="0"/>
              </a:tabLst>
            </a:pPr>
            <a:r>
              <a:rPr b="1" lang="hi-IN" sz="1080" spc="-1" strike="noStrike">
                <a:solidFill>
                  <a:srgbClr val="f7eedf"/>
                </a:solidFill>
                <a:latin typeface="Sarabun"/>
                <a:cs typeface="Sarabun"/>
              </a:rPr>
              <a:t>เป็นมิตรกับคนไทย</a:t>
            </a:r>
            <a:endParaRPr b="0" lang="en-US" sz="1080" spc="-1" strike="noStrike">
              <a:solidFill>
                <a:srgbClr val="000000"/>
              </a:solidFill>
              <a:latin typeface="Arial"/>
            </a:endParaRPr>
          </a:p>
        </p:txBody>
      </p:sp>
      <p:sp>
        <p:nvSpPr>
          <p:cNvPr id="131" name="Text 17"/>
          <p:cNvSpPr/>
          <p:nvPr/>
        </p:nvSpPr>
        <p:spPr>
          <a:xfrm>
            <a:off x="9806400" y="4338360"/>
            <a:ext cx="863280" cy="151920"/>
          </a:xfrm>
          <a:prstGeom prst="rect">
            <a:avLst/>
          </a:prstGeom>
          <a:noFill/>
          <a:ln w="0">
            <a:noFill/>
          </a:ln>
        </p:spPr>
        <p:style>
          <a:lnRef idx="0"/>
          <a:fillRef idx="0"/>
          <a:effectRef idx="0"/>
          <a:fontRef idx="minor"/>
        </p:style>
        <p:txBody>
          <a:bodyPr lIns="0" rIns="0" tIns="0" bIns="0" anchor="t">
            <a:normAutofit/>
          </a:bodyPr>
          <a:p>
            <a:pPr algn="ctr" defTabSz="914400">
              <a:lnSpc>
                <a:spcPts val="1052"/>
              </a:lnSpc>
              <a:tabLst>
                <a:tab algn="l" pos="0"/>
              </a:tabLst>
            </a:pPr>
            <a:r>
              <a:rPr b="0" lang="en-US" sz="780" spc="-1" strike="noStrike">
                <a:solidFill>
                  <a:srgbClr val="0c5341"/>
                </a:solidFill>
                <a:latin typeface="Sarabun"/>
                <a:ea typeface="Sarabun"/>
              </a:rPr>
              <a:t>Thai-friendly</a:t>
            </a:r>
            <a:endParaRPr b="0" lang="en-US" sz="780" spc="-1" strike="noStrike">
              <a:solidFill>
                <a:srgbClr val="000000"/>
              </a:solidFill>
              <a:latin typeface="Arial"/>
            </a:endParaRPr>
          </a:p>
        </p:txBody>
      </p:sp>
      <p:sp>
        <p:nvSpPr>
          <p:cNvPr id="132" name="Shape 18"/>
          <p:cNvSpPr/>
          <p:nvPr/>
        </p:nvSpPr>
        <p:spPr>
          <a:xfrm>
            <a:off x="812880" y="5049720"/>
            <a:ext cx="10565640" cy="1096560"/>
          </a:xfrm>
          <a:prstGeom prst="roundRect">
            <a:avLst>
              <a:gd name="adj" fmla="val 13889"/>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33" name="Image 7" descr="Star"/>
          <p:cNvPicPr/>
          <p:nvPr/>
        </p:nvPicPr>
        <p:blipFill>
          <a:blip r:embed="rId8"/>
          <a:stretch/>
        </p:blipFill>
        <p:spPr>
          <a:xfrm>
            <a:off x="1041480" y="5458320"/>
            <a:ext cx="278640" cy="278640"/>
          </a:xfrm>
          <a:prstGeom prst="rect">
            <a:avLst/>
          </a:prstGeom>
          <a:ln w="0">
            <a:noFill/>
          </a:ln>
        </p:spPr>
      </p:pic>
      <p:sp>
        <p:nvSpPr>
          <p:cNvPr id="134" name="Text 19"/>
          <p:cNvSpPr/>
          <p:nvPr/>
        </p:nvSpPr>
        <p:spPr>
          <a:xfrm>
            <a:off x="1473120" y="5202000"/>
            <a:ext cx="9966960" cy="817200"/>
          </a:xfrm>
          <a:prstGeom prst="rect">
            <a:avLst/>
          </a:prstGeom>
          <a:noFill/>
          <a:ln w="0">
            <a:noFill/>
          </a:ln>
        </p:spPr>
        <p:style>
          <a:lnRef idx="0"/>
          <a:fillRef idx="0"/>
          <a:effectRef idx="0"/>
          <a:fontRef idx="minor"/>
        </p:style>
        <p:txBody>
          <a:bodyPr lIns="0" rIns="0" tIns="0" bIns="0" anchor="t">
            <a:normAutofit/>
          </a:bodyPr>
          <a:p>
            <a:pPr defTabSz="914400">
              <a:lnSpc>
                <a:spcPts val="2081"/>
              </a:lnSpc>
              <a:tabLst>
                <a:tab algn="l" pos="0"/>
              </a:tabLst>
            </a:pPr>
            <a:r>
              <a:rPr b="0" lang="en-US" sz="1600" spc="-1" strike="noStrike">
                <a:solidFill>
                  <a:srgbClr val="f7eedf"/>
                </a:solidFill>
                <a:latin typeface="Kanit"/>
                <a:ea typeface="Kanit"/>
              </a:rPr>
              <a:t>Not Meetup, Tandem or Bumble BFF. Built for Thais, and not a dating app.</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5341"/>
        </a:solidFill>
      </p:bgPr>
    </p:bg>
    <p:spTree>
      <p:nvGrpSpPr>
        <p:cNvPr id="1" name=""/>
        <p:cNvGrpSpPr/>
        <p:nvPr/>
      </p:nvGrpSpPr>
      <p:grpSpPr>
        <a:xfrm>
          <a:off x="0" y="0"/>
          <a:ext cx="0" cy="0"/>
          <a:chOff x="0" y="0"/>
          <a:chExt cx="0" cy="0"/>
        </a:xfrm>
      </p:grpSpPr>
      <p:sp>
        <p:nvSpPr>
          <p:cNvPr id="135" name="Text 0"/>
          <p:cNvSpPr/>
          <p:nvPr/>
        </p:nvSpPr>
        <p:spPr>
          <a:xfrm>
            <a:off x="812880" y="502200"/>
            <a:ext cx="4708440" cy="3715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45" strike="noStrike">
                <a:solidFill>
                  <a:srgbClr val="fcaa16"/>
                </a:solidFill>
                <a:latin typeface="Sarabun"/>
                <a:ea typeface="Sarabun"/>
              </a:rPr>
              <a:t>TRANSLATED CHAT</a:t>
            </a:r>
            <a:endParaRPr b="0" lang="en-US" sz="1300" spc="-1" strike="noStrike">
              <a:solidFill>
                <a:srgbClr val="ffffff"/>
              </a:solidFill>
              <a:latin typeface="Arial"/>
            </a:endParaRPr>
          </a:p>
        </p:txBody>
      </p:sp>
      <p:sp>
        <p:nvSpPr>
          <p:cNvPr id="136" name="Text 1"/>
          <p:cNvSpPr/>
          <p:nvPr/>
        </p:nvSpPr>
        <p:spPr>
          <a:xfrm>
            <a:off x="812880" y="1026720"/>
            <a:ext cx="4708440" cy="3042000"/>
          </a:xfrm>
          <a:prstGeom prst="rect">
            <a:avLst/>
          </a:prstGeom>
          <a:noFill/>
          <a:ln w="0">
            <a:noFill/>
          </a:ln>
        </p:spPr>
        <p:style>
          <a:lnRef idx="0"/>
          <a:fillRef idx="0"/>
          <a:effectRef idx="0"/>
          <a:fontRef idx="minor"/>
        </p:style>
        <p:txBody>
          <a:bodyPr lIns="0" rIns="0" tIns="0" bIns="0" anchor="t">
            <a:normAutofit/>
          </a:bodyPr>
          <a:p>
            <a:pPr defTabSz="914400">
              <a:lnSpc>
                <a:spcPts val="3960"/>
              </a:lnSpc>
              <a:tabLst>
                <a:tab algn="l" pos="0"/>
              </a:tabLst>
            </a:pPr>
            <a:r>
              <a:rPr b="1" lang="en-US" sz="3600" spc="-1" strike="noStrike">
                <a:solidFill>
                  <a:srgbClr val="f7eedf"/>
                </a:solidFill>
                <a:latin typeface="Kanit"/>
                <a:ea typeface="Kanit"/>
              </a:rPr>
              <a:t>Translation starts it. Meeting up is the point.</a:t>
            </a:r>
            <a:endParaRPr b="0" lang="en-US" sz="3600" spc="-1" strike="noStrike">
              <a:solidFill>
                <a:srgbClr val="ffffff"/>
              </a:solidFill>
              <a:latin typeface="Arial"/>
            </a:endParaRPr>
          </a:p>
        </p:txBody>
      </p:sp>
      <p:sp>
        <p:nvSpPr>
          <p:cNvPr id="137" name="Text 2"/>
          <p:cNvSpPr/>
          <p:nvPr/>
        </p:nvSpPr>
        <p:spPr>
          <a:xfrm>
            <a:off x="812880" y="4222080"/>
            <a:ext cx="4708440" cy="2158200"/>
          </a:xfrm>
          <a:prstGeom prst="rect">
            <a:avLst/>
          </a:prstGeom>
          <a:noFill/>
          <a:ln w="0">
            <a:noFill/>
          </a:ln>
        </p:spPr>
        <p:style>
          <a:lnRef idx="0"/>
          <a:fillRef idx="0"/>
          <a:effectRef idx="0"/>
          <a:fontRef idx="minor"/>
        </p:style>
        <p:txBody>
          <a:bodyPr lIns="0" rIns="0" tIns="0" bIns="0" anchor="t">
            <a:normAutofit/>
          </a:bodyPr>
          <a:p>
            <a:pPr defTabSz="914400">
              <a:lnSpc>
                <a:spcPts val="2239"/>
              </a:lnSpc>
              <a:tabLst>
                <a:tab algn="l" pos="0"/>
              </a:tabLst>
            </a:pPr>
            <a:r>
              <a:rPr b="0" lang="en-US" sz="1600" spc="-1" strike="noStrike">
                <a:solidFill>
                  <a:srgbClr val="cfe3dc"/>
                </a:solidFill>
                <a:latin typeface="Sarabun"/>
                <a:ea typeface="Sarabun"/>
              </a:rPr>
              <a:t>Chat arrives in the reader's language, with the right polite ending (</a:t>
            </a:r>
            <a:r>
              <a:rPr b="0" lang="hi-IN" sz="1600" spc="-1" strike="noStrike">
                <a:solidFill>
                  <a:srgbClr val="cfe3dc"/>
                </a:solidFill>
                <a:latin typeface="Sarabun"/>
                <a:cs typeface="Sarabun"/>
              </a:rPr>
              <a:t>ครับ </a:t>
            </a:r>
            <a:r>
              <a:rPr b="0" lang="en-US" sz="1600" spc="-1" strike="noStrike">
                <a:solidFill>
                  <a:srgbClr val="cfe3dc"/>
                </a:solidFill>
                <a:latin typeface="Sarabun"/>
                <a:ea typeface="Sarabun"/>
              </a:rPr>
              <a:t>/ </a:t>
            </a:r>
            <a:r>
              <a:rPr b="0" lang="hi-IN" sz="1600" spc="-1" strike="noStrike">
                <a:solidFill>
                  <a:srgbClr val="cfe3dc"/>
                </a:solidFill>
                <a:latin typeface="Sarabun"/>
                <a:cs typeface="Sarabun"/>
              </a:rPr>
              <a:t>ค่ะ</a:t>
            </a:r>
            <a:r>
              <a:rPr b="0" lang="en-US" sz="1600" spc="-1" strike="noStrike">
                <a:solidFill>
                  <a:srgbClr val="cfe3dc"/>
                </a:solidFill>
                <a:latin typeface="Sarabun"/>
                <a:ea typeface="Sarabun"/>
              </a:rPr>
              <a:t>). Then you meet in person, and learn each other's words.</a:t>
            </a:r>
            <a:endParaRPr b="0" lang="en-US" sz="1600" spc="-1" strike="noStrike">
              <a:solidFill>
                <a:srgbClr val="ffffff"/>
              </a:solidFill>
              <a:latin typeface="Arial"/>
            </a:endParaRPr>
          </a:p>
        </p:txBody>
      </p:sp>
      <p:sp>
        <p:nvSpPr>
          <p:cNvPr id="138" name="Shape 3"/>
          <p:cNvSpPr/>
          <p:nvPr/>
        </p:nvSpPr>
        <p:spPr>
          <a:xfrm>
            <a:off x="5892840" y="1087920"/>
            <a:ext cx="5485680" cy="4681440"/>
          </a:xfrm>
          <a:prstGeom prst="roundRect">
            <a:avLst>
              <a:gd name="adj" fmla="val 4340"/>
            </a:avLst>
          </a:prstGeom>
          <a:solidFill>
            <a:srgbClr val="f7eedf"/>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9" name="Text 4"/>
          <p:cNvSpPr/>
          <p:nvPr/>
        </p:nvSpPr>
        <p:spPr>
          <a:xfrm>
            <a:off x="6197760" y="1392840"/>
            <a:ext cx="5022360" cy="344880"/>
          </a:xfrm>
          <a:prstGeom prst="rect">
            <a:avLst/>
          </a:prstGeom>
          <a:noFill/>
          <a:ln w="0">
            <a:noFill/>
          </a:ln>
        </p:spPr>
        <p:style>
          <a:lnRef idx="0"/>
          <a:fillRef idx="0"/>
          <a:effectRef idx="0"/>
          <a:fontRef idx="minor"/>
        </p:style>
        <p:txBody>
          <a:bodyPr lIns="0" rIns="0" tIns="0" bIns="0" anchor="t">
            <a:normAutofit/>
          </a:bodyPr>
          <a:p>
            <a:pPr defTabSz="914400">
              <a:lnSpc>
                <a:spcPts val="1681"/>
              </a:lnSpc>
              <a:tabLst>
                <a:tab algn="l" pos="0"/>
              </a:tabLst>
            </a:pPr>
            <a:r>
              <a:rPr b="0" lang="en-US" sz="1200" spc="94" strike="noStrike">
                <a:solidFill>
                  <a:srgbClr val="4d5048"/>
                </a:solidFill>
                <a:latin typeface="Sarabun"/>
                <a:ea typeface="Sarabun"/>
              </a:rPr>
              <a:t>EXAMPLE CHAT</a:t>
            </a:r>
            <a:endParaRPr b="0" lang="en-US" sz="1200" spc="-1" strike="noStrike">
              <a:solidFill>
                <a:srgbClr val="ffffff"/>
              </a:solidFill>
              <a:latin typeface="Arial"/>
            </a:endParaRPr>
          </a:p>
        </p:txBody>
      </p:sp>
      <p:sp>
        <p:nvSpPr>
          <p:cNvPr id="140" name="Shape 5"/>
          <p:cNvSpPr/>
          <p:nvPr/>
        </p:nvSpPr>
        <p:spPr>
          <a:xfrm>
            <a:off x="7137360" y="1890720"/>
            <a:ext cx="3936240" cy="1076040"/>
          </a:xfrm>
          <a:prstGeom prst="roundRect">
            <a:avLst>
              <a:gd name="adj" fmla="val 16510"/>
            </a:avLst>
          </a:prstGeom>
          <a:solidFill>
            <a:srgbClr val="cde9e4"/>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1" name="Text 6"/>
          <p:cNvSpPr/>
          <p:nvPr/>
        </p:nvSpPr>
        <p:spPr>
          <a:xfrm>
            <a:off x="7315200" y="2017440"/>
            <a:ext cx="3688200" cy="84744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en-US" sz="1600" spc="-1" strike="noStrike">
                <a:solidFill>
                  <a:srgbClr val="0c5341"/>
                </a:solidFill>
                <a:latin typeface="Sarabun"/>
                <a:ea typeface="Sarabun"/>
              </a:rPr>
              <a:t>See you at the workshop on Saturday?</a:t>
            </a:r>
            <a:endParaRPr b="0" lang="en-US" sz="1600" spc="-1" strike="noStrike">
              <a:solidFill>
                <a:srgbClr val="ffffff"/>
              </a:solidFill>
              <a:latin typeface="Arial"/>
            </a:endParaRPr>
          </a:p>
        </p:txBody>
      </p:sp>
      <p:sp>
        <p:nvSpPr>
          <p:cNvPr id="142" name="Text 7"/>
          <p:cNvSpPr/>
          <p:nvPr/>
        </p:nvSpPr>
        <p:spPr>
          <a:xfrm>
            <a:off x="7137360" y="3030840"/>
            <a:ext cx="4054320" cy="693360"/>
          </a:xfrm>
          <a:prstGeom prst="rect">
            <a:avLst/>
          </a:prstGeom>
          <a:noFill/>
          <a:ln w="0">
            <a:noFill/>
          </a:ln>
        </p:spPr>
        <p:style>
          <a:lnRef idx="0"/>
          <a:fillRef idx="0"/>
          <a:effectRef idx="0"/>
          <a:fontRef idx="minor"/>
        </p:style>
        <p:txBody>
          <a:bodyPr lIns="0" rIns="0" tIns="0" bIns="0" anchor="t">
            <a:normAutofit/>
          </a:bodyPr>
          <a:p>
            <a:pPr defTabSz="914400">
              <a:lnSpc>
                <a:spcPts val="1755"/>
              </a:lnSpc>
              <a:tabLst>
                <a:tab algn="l" pos="0"/>
              </a:tabLst>
            </a:pPr>
            <a:r>
              <a:rPr b="1" lang="en-US" sz="1300" spc="-1" strike="noStrike">
                <a:solidFill>
                  <a:srgbClr val="4d5048"/>
                </a:solidFill>
                <a:latin typeface="Sarabun"/>
                <a:ea typeface="Sarabun"/>
              </a:rPr>
              <a:t>Nok sees:</a:t>
            </a:r>
            <a:r>
              <a:rPr b="0" lang="en-US" sz="1300" spc="-1" strike="noStrike">
                <a:solidFill>
                  <a:srgbClr val="4d5048"/>
                </a:solidFill>
                <a:latin typeface="Sarabun"/>
                <a:ea typeface="Sarabun"/>
              </a:rPr>
              <a:t> </a:t>
            </a:r>
            <a:r>
              <a:rPr b="0" lang="hi-IN" sz="1300" spc="-1" strike="noStrike">
                <a:solidFill>
                  <a:srgbClr val="4d5048"/>
                </a:solidFill>
                <a:latin typeface="Sarabun"/>
                <a:cs typeface="Sarabun"/>
              </a:rPr>
              <a:t>เจอกันที่เวิร์กช็อปวันเสาร์นะครับ</a:t>
            </a:r>
            <a:r>
              <a:rPr b="0" lang="en-US" sz="1300" spc="-1" strike="noStrike">
                <a:solidFill>
                  <a:srgbClr val="4d5048"/>
                </a:solidFill>
                <a:latin typeface="Sarabun"/>
                <a:ea typeface="Sarabun"/>
              </a:rPr>
              <a:t>?</a:t>
            </a:r>
            <a:endParaRPr b="0" lang="en-US" sz="1300" spc="-1" strike="noStrike">
              <a:solidFill>
                <a:srgbClr val="ffffff"/>
              </a:solidFill>
              <a:latin typeface="Arial"/>
            </a:endParaRPr>
          </a:p>
        </p:txBody>
      </p:sp>
      <p:sp>
        <p:nvSpPr>
          <p:cNvPr id="143" name="Shape 8"/>
          <p:cNvSpPr/>
          <p:nvPr/>
        </p:nvSpPr>
        <p:spPr>
          <a:xfrm>
            <a:off x="6197760" y="3877560"/>
            <a:ext cx="3936240" cy="664560"/>
          </a:xfrm>
          <a:prstGeom prst="roundRect">
            <a:avLst>
              <a:gd name="adj" fmla="val 26719"/>
            </a:avLst>
          </a:prstGeom>
          <a:solidFill>
            <a:srgbClr val="fcd58a"/>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44" name="Text 9"/>
          <p:cNvSpPr/>
          <p:nvPr/>
        </p:nvSpPr>
        <p:spPr>
          <a:xfrm>
            <a:off x="6375240" y="4004280"/>
            <a:ext cx="3688200" cy="435960"/>
          </a:xfrm>
          <a:prstGeom prst="rect">
            <a:avLst/>
          </a:prstGeom>
          <a:noFill/>
          <a:ln w="0">
            <a:noFill/>
          </a:ln>
        </p:spPr>
        <p:style>
          <a:lnRef idx="0"/>
          <a:fillRef idx="0"/>
          <a:effectRef idx="0"/>
          <a:fontRef idx="minor"/>
        </p:style>
        <p:txBody>
          <a:bodyPr lIns="0" rIns="0" tIns="0" bIns="0" anchor="t">
            <a:normAutofit/>
          </a:bodyPr>
          <a:p>
            <a:pPr defTabSz="914400">
              <a:lnSpc>
                <a:spcPts val="2160"/>
              </a:lnSpc>
              <a:tabLst>
                <a:tab algn="l" pos="0"/>
              </a:tabLst>
            </a:pPr>
            <a:r>
              <a:rPr b="0" lang="hi-IN" sz="1600" spc="-1" strike="noStrike">
                <a:solidFill>
                  <a:srgbClr val="0c5341"/>
                </a:solidFill>
                <a:latin typeface="Sarabun"/>
                <a:cs typeface="Sarabun"/>
              </a:rPr>
              <a:t>ได้เลยค่ะ แล้วเจอกันนะคะ</a:t>
            </a:r>
            <a:endParaRPr b="0" lang="en-US" sz="1600" spc="-1" strike="noStrike">
              <a:solidFill>
                <a:srgbClr val="ffffff"/>
              </a:solidFill>
              <a:latin typeface="Arial"/>
            </a:endParaRPr>
          </a:p>
        </p:txBody>
      </p:sp>
      <p:sp>
        <p:nvSpPr>
          <p:cNvPr id="145" name="Text 10"/>
          <p:cNvSpPr/>
          <p:nvPr/>
        </p:nvSpPr>
        <p:spPr>
          <a:xfrm>
            <a:off x="6197760" y="4606560"/>
            <a:ext cx="4054320" cy="358920"/>
          </a:xfrm>
          <a:prstGeom prst="rect">
            <a:avLst/>
          </a:prstGeom>
          <a:noFill/>
          <a:ln w="0">
            <a:noFill/>
          </a:ln>
        </p:spPr>
        <p:style>
          <a:lnRef idx="0"/>
          <a:fillRef idx="0"/>
          <a:effectRef idx="0"/>
          <a:fontRef idx="minor"/>
        </p:style>
        <p:txBody>
          <a:bodyPr lIns="0" rIns="0" tIns="0" bIns="0" anchor="t">
            <a:normAutofit/>
          </a:bodyPr>
          <a:p>
            <a:pPr defTabSz="914400">
              <a:lnSpc>
                <a:spcPts val="1755"/>
              </a:lnSpc>
              <a:tabLst>
                <a:tab algn="l" pos="0"/>
              </a:tabLst>
            </a:pPr>
            <a:r>
              <a:rPr b="1" lang="en-US" sz="1300" spc="-1" strike="noStrike">
                <a:solidFill>
                  <a:srgbClr val="4d5048"/>
                </a:solidFill>
                <a:latin typeface="Sarabun"/>
                <a:ea typeface="Sarabun"/>
              </a:rPr>
              <a:t>Sam sees:</a:t>
            </a:r>
            <a:r>
              <a:rPr b="0" lang="en-US" sz="1300" spc="-1" strike="noStrike">
                <a:solidFill>
                  <a:srgbClr val="4d5048"/>
                </a:solidFill>
                <a:latin typeface="Sarabun"/>
                <a:ea typeface="Sarabun"/>
              </a:rPr>
              <a:t> Sure! See you there.</a:t>
            </a:r>
            <a:endParaRPr b="0" lang="en-US" sz="1300" spc="-1" strike="noStrike">
              <a:solidFill>
                <a:srgbClr val="ffffff"/>
              </a:solidFill>
              <a:latin typeface="Arial"/>
            </a:endParaRPr>
          </a:p>
        </p:txBody>
      </p:sp>
      <p:pic>
        <p:nvPicPr>
          <p:cNvPr id="146" name="Image 0" descr="Search"/>
          <p:cNvPicPr/>
          <p:nvPr/>
        </p:nvPicPr>
        <p:blipFill>
          <a:blip r:embed="rId1"/>
          <a:stretch/>
        </p:blipFill>
        <p:spPr>
          <a:xfrm>
            <a:off x="6197760" y="5177520"/>
            <a:ext cx="227880" cy="227880"/>
          </a:xfrm>
          <a:prstGeom prst="rect">
            <a:avLst/>
          </a:prstGeom>
          <a:ln w="0">
            <a:noFill/>
          </a:ln>
        </p:spPr>
      </p:pic>
      <p:sp>
        <p:nvSpPr>
          <p:cNvPr id="147" name="Text 11"/>
          <p:cNvSpPr/>
          <p:nvPr/>
        </p:nvSpPr>
        <p:spPr>
          <a:xfrm>
            <a:off x="6515280" y="5118480"/>
            <a:ext cx="4109760" cy="3715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 strike="noStrike">
                <a:solidFill>
                  <a:srgbClr val="0c5341"/>
                </a:solidFill>
                <a:latin typeface="Sarabun"/>
                <a:ea typeface="Sarabun"/>
              </a:rPr>
              <a:t>Tap any message to see the original.</a:t>
            </a:r>
            <a:endParaRPr b="0" lang="en-US" sz="13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eedf"/>
        </a:solidFill>
      </p:bgPr>
    </p:bg>
    <p:spTree>
      <p:nvGrpSpPr>
        <p:cNvPr id="1" name=""/>
        <p:cNvGrpSpPr/>
        <p:nvPr/>
      </p:nvGrpSpPr>
      <p:grpSpPr>
        <a:xfrm>
          <a:off x="0" y="0"/>
          <a:ext cx="0" cy="0"/>
          <a:chOff x="0" y="0"/>
          <a:chExt cx="0" cy="0"/>
        </a:xfrm>
      </p:grpSpPr>
      <p:sp>
        <p:nvSpPr>
          <p:cNvPr id="148" name="Text 0"/>
          <p:cNvSpPr/>
          <p:nvPr/>
        </p:nvSpPr>
        <p:spPr>
          <a:xfrm>
            <a:off x="812880" y="762120"/>
            <a:ext cx="10882800" cy="3715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45" strike="noStrike">
                <a:solidFill>
                  <a:srgbClr val="a33a08"/>
                </a:solidFill>
                <a:latin typeface="Sarabun"/>
                <a:ea typeface="Sarabun"/>
              </a:rPr>
              <a:t>HOW THAIS WILL FIND US</a:t>
            </a:r>
            <a:endParaRPr b="0" lang="en-US" sz="1300" spc="-1" strike="noStrike">
              <a:solidFill>
                <a:srgbClr val="000000"/>
              </a:solidFill>
              <a:latin typeface="Arial"/>
            </a:endParaRPr>
          </a:p>
        </p:txBody>
      </p:sp>
      <p:sp>
        <p:nvSpPr>
          <p:cNvPr id="149" name="Text 1"/>
          <p:cNvSpPr/>
          <p:nvPr/>
        </p:nvSpPr>
        <p:spPr>
          <a:xfrm>
            <a:off x="812880" y="1210320"/>
            <a:ext cx="10882800" cy="737280"/>
          </a:xfrm>
          <a:prstGeom prst="rect">
            <a:avLst/>
          </a:prstGeom>
          <a:noFill/>
          <a:ln w="0">
            <a:noFill/>
          </a:ln>
        </p:spPr>
        <p:style>
          <a:lnRef idx="0"/>
          <a:fillRef idx="0"/>
          <a:effectRef idx="0"/>
          <a:fontRef idx="minor"/>
        </p:style>
        <p:txBody>
          <a:bodyPr lIns="0" rIns="0" tIns="0" bIns="0" anchor="t">
            <a:normAutofit/>
          </a:bodyPr>
          <a:p>
            <a:pPr defTabSz="914400">
              <a:lnSpc>
                <a:spcPts val="3739"/>
              </a:lnSpc>
              <a:tabLst>
                <a:tab algn="l" pos="0"/>
              </a:tabLst>
            </a:pPr>
            <a:r>
              <a:rPr b="1" lang="en-US" sz="3400" spc="-1" strike="noStrike">
                <a:solidFill>
                  <a:srgbClr val="0c5341"/>
                </a:solidFill>
                <a:latin typeface="Kanit"/>
                <a:ea typeface="Kanit"/>
              </a:rPr>
              <a:t>LINE brings them to Bpai Duay Gan.</a:t>
            </a:r>
            <a:endParaRPr b="0" lang="en-US" sz="3400" spc="-1" strike="noStrike">
              <a:solidFill>
                <a:srgbClr val="000000"/>
              </a:solidFill>
              <a:latin typeface="Arial"/>
            </a:endParaRPr>
          </a:p>
        </p:txBody>
      </p:sp>
      <p:sp>
        <p:nvSpPr>
          <p:cNvPr id="150" name="Shape 2"/>
          <p:cNvSpPr/>
          <p:nvPr/>
        </p:nvSpPr>
        <p:spPr>
          <a:xfrm>
            <a:off x="819000" y="2183040"/>
            <a:ext cx="2285280" cy="2580120"/>
          </a:xfrm>
          <a:prstGeom prst="roundRect">
            <a:avLst>
              <a:gd name="adj" fmla="val 6389"/>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1" name="Shape 3"/>
          <p:cNvSpPr/>
          <p:nvPr/>
        </p:nvSpPr>
        <p:spPr>
          <a:xfrm>
            <a:off x="1014840" y="2378880"/>
            <a:ext cx="329400" cy="329400"/>
          </a:xfrm>
          <a:prstGeom prst="roundRect">
            <a:avLst>
              <a:gd name="adj" fmla="val 50000"/>
            </a:avLst>
          </a:prstGeom>
          <a:solidFill>
            <a:srgbClr val="06c755"/>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52" name="Text 4"/>
          <p:cNvSpPr/>
          <p:nvPr/>
        </p:nvSpPr>
        <p:spPr>
          <a:xfrm>
            <a:off x="989280" y="2378880"/>
            <a:ext cx="380160" cy="354960"/>
          </a:xfrm>
          <a:prstGeom prst="rect">
            <a:avLst/>
          </a:prstGeom>
          <a:noFill/>
          <a:ln w="0">
            <a:noFill/>
          </a:ln>
        </p:spPr>
        <p:style>
          <a:lnRef idx="0"/>
          <a:fillRef idx="0"/>
          <a:effectRef idx="0"/>
          <a:fontRef idx="minor"/>
        </p:style>
        <p:txBody>
          <a:bodyPr lIns="0" rIns="0" tIns="0" bIns="0" anchor="t">
            <a:normAutofit/>
          </a:bodyPr>
          <a:p>
            <a:pPr algn="ctr" defTabSz="914400">
              <a:lnSpc>
                <a:spcPts val="1746"/>
              </a:lnSpc>
              <a:tabLst>
                <a:tab algn="l" pos="0"/>
              </a:tabLst>
            </a:pPr>
            <a:r>
              <a:rPr b="1" lang="en-US" sz="1000" spc="-1" strike="noStrike">
                <a:solidFill>
                  <a:srgbClr val="0c5341"/>
                </a:solidFill>
                <a:latin typeface="Kanit"/>
                <a:ea typeface="Kanit"/>
              </a:rPr>
              <a:t>1</a:t>
            </a:r>
            <a:endParaRPr b="0" lang="en-US" sz="1000" spc="-1" strike="noStrike">
              <a:solidFill>
                <a:srgbClr val="000000"/>
              </a:solidFill>
              <a:latin typeface="Arial"/>
            </a:endParaRPr>
          </a:p>
        </p:txBody>
      </p:sp>
      <p:sp>
        <p:nvSpPr>
          <p:cNvPr id="153" name="Text 5"/>
          <p:cNvSpPr/>
          <p:nvPr/>
        </p:nvSpPr>
        <p:spPr>
          <a:xfrm>
            <a:off x="1014840" y="2810520"/>
            <a:ext cx="1950840" cy="248760"/>
          </a:xfrm>
          <a:prstGeom prst="rect">
            <a:avLst/>
          </a:prstGeom>
          <a:noFill/>
          <a:ln w="0">
            <a:noFill/>
          </a:ln>
        </p:spPr>
        <p:style>
          <a:lnRef idx="0"/>
          <a:fillRef idx="0"/>
          <a:effectRef idx="0"/>
          <a:fontRef idx="minor"/>
        </p:style>
        <p:txBody>
          <a:bodyPr lIns="0" rIns="0" tIns="0" bIns="0" anchor="t">
            <a:normAutofit/>
          </a:bodyPr>
          <a:p>
            <a:pPr defTabSz="914400">
              <a:lnSpc>
                <a:spcPts val="1225"/>
              </a:lnSpc>
              <a:tabLst>
                <a:tab algn="l" pos="0"/>
              </a:tabLst>
            </a:pPr>
            <a:r>
              <a:rPr b="1" lang="en-US" sz="1020" spc="-1" strike="noStrike">
                <a:solidFill>
                  <a:srgbClr val="0c5341"/>
                </a:solidFill>
                <a:latin typeface="Kanit"/>
                <a:ea typeface="Kanit"/>
              </a:rPr>
              <a:t>Attract</a:t>
            </a:r>
            <a:endParaRPr b="0" lang="en-US" sz="1020" spc="-1" strike="noStrike">
              <a:solidFill>
                <a:srgbClr val="000000"/>
              </a:solidFill>
              <a:latin typeface="Arial"/>
            </a:endParaRPr>
          </a:p>
        </p:txBody>
      </p:sp>
      <p:sp>
        <p:nvSpPr>
          <p:cNvPr id="154" name="Text 6"/>
          <p:cNvSpPr/>
          <p:nvPr/>
        </p:nvSpPr>
        <p:spPr>
          <a:xfrm>
            <a:off x="1014840" y="3136320"/>
            <a:ext cx="1950840" cy="988560"/>
          </a:xfrm>
          <a:prstGeom prst="rect">
            <a:avLst/>
          </a:prstGeom>
          <a:noFill/>
          <a:ln w="0">
            <a:noFill/>
          </a:ln>
        </p:spPr>
        <p:style>
          <a:lnRef idx="0"/>
          <a:fillRef idx="0"/>
          <a:effectRef idx="0"/>
          <a:fontRef idx="minor"/>
        </p:style>
        <p:txBody>
          <a:bodyPr lIns="0" rIns="0" tIns="0" bIns="0" anchor="t">
            <a:normAutofit/>
          </a:bodyPr>
          <a:p>
            <a:pPr defTabSz="914400">
              <a:lnSpc>
                <a:spcPts val="1267"/>
              </a:lnSpc>
              <a:tabLst>
                <a:tab algn="l" pos="0"/>
              </a:tabLst>
            </a:pPr>
            <a:r>
              <a:rPr b="0" lang="en-US" sz="939" spc="-1" strike="noStrike">
                <a:solidFill>
                  <a:srgbClr val="4d5048"/>
                </a:solidFill>
                <a:latin typeface="Sarabun"/>
                <a:ea typeface="Sarabun"/>
              </a:rPr>
              <a:t>Photos of people connecting, plus this week's Thai-friendly events. All in Thai.</a:t>
            </a:r>
            <a:endParaRPr b="0" lang="en-US" sz="939" spc="-1" strike="noStrike">
              <a:solidFill>
                <a:srgbClr val="000000"/>
              </a:solidFill>
              <a:latin typeface="Arial"/>
            </a:endParaRPr>
          </a:p>
        </p:txBody>
      </p:sp>
      <p:sp>
        <p:nvSpPr>
          <p:cNvPr id="155" name="Image 0"/>
          <p:cNvSpPr/>
          <p:nvPr/>
        </p:nvSpPr>
        <p:spPr>
          <a:xfrm>
            <a:off x="1014840" y="4201920"/>
            <a:ext cx="914760" cy="634320"/>
          </a:xfrm>
          <a:prstGeom prst="roundRect">
            <a:avLst>
              <a:gd name="adj" fmla="val 12000"/>
            </a:avLst>
          </a:pr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6" name="Image 1"/>
          <p:cNvSpPr/>
          <p:nvPr/>
        </p:nvSpPr>
        <p:spPr>
          <a:xfrm>
            <a:off x="1994040" y="4201920"/>
            <a:ext cx="914760" cy="634320"/>
          </a:xfrm>
          <a:prstGeom prst="roundRect">
            <a:avLst>
              <a:gd name="adj" fmla="val 12000"/>
            </a:avLst>
          </a:pr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pic>
        <p:nvPicPr>
          <p:cNvPr id="157" name="Image 2" descr="arrow-right"/>
          <p:cNvPicPr/>
          <p:nvPr/>
        </p:nvPicPr>
        <p:blipFill>
          <a:blip r:embed="rId3"/>
          <a:stretch/>
        </p:blipFill>
        <p:spPr>
          <a:xfrm>
            <a:off x="3213000" y="3384720"/>
            <a:ext cx="253440" cy="177120"/>
          </a:xfrm>
          <a:prstGeom prst="rect">
            <a:avLst/>
          </a:prstGeom>
          <a:ln w="0">
            <a:noFill/>
          </a:ln>
        </p:spPr>
      </p:pic>
      <p:sp>
        <p:nvSpPr>
          <p:cNvPr id="158" name="Shape 7"/>
          <p:cNvSpPr/>
          <p:nvPr/>
        </p:nvSpPr>
        <p:spPr>
          <a:xfrm>
            <a:off x="3575160" y="2183040"/>
            <a:ext cx="2285280" cy="2580120"/>
          </a:xfrm>
          <a:prstGeom prst="roundRect">
            <a:avLst>
              <a:gd name="adj" fmla="val 6389"/>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59" name="Shape 8"/>
          <p:cNvSpPr/>
          <p:nvPr/>
        </p:nvSpPr>
        <p:spPr>
          <a:xfrm>
            <a:off x="3770640" y="2378880"/>
            <a:ext cx="329400" cy="329400"/>
          </a:xfrm>
          <a:prstGeom prst="roundRect">
            <a:avLst>
              <a:gd name="adj" fmla="val 50000"/>
            </a:avLst>
          </a:prstGeom>
          <a:solidFill>
            <a:srgbClr val="06c755"/>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0" name="Text 9"/>
          <p:cNvSpPr/>
          <p:nvPr/>
        </p:nvSpPr>
        <p:spPr>
          <a:xfrm>
            <a:off x="3745440" y="2378880"/>
            <a:ext cx="380160" cy="354960"/>
          </a:xfrm>
          <a:prstGeom prst="rect">
            <a:avLst/>
          </a:prstGeom>
          <a:noFill/>
          <a:ln w="0">
            <a:noFill/>
          </a:ln>
        </p:spPr>
        <p:style>
          <a:lnRef idx="0"/>
          <a:fillRef idx="0"/>
          <a:effectRef idx="0"/>
          <a:fontRef idx="minor"/>
        </p:style>
        <p:txBody>
          <a:bodyPr lIns="0" rIns="0" tIns="0" bIns="0" anchor="t">
            <a:normAutofit/>
          </a:bodyPr>
          <a:p>
            <a:pPr algn="ctr" defTabSz="914400">
              <a:lnSpc>
                <a:spcPts val="1746"/>
              </a:lnSpc>
              <a:tabLst>
                <a:tab algn="l" pos="0"/>
              </a:tabLst>
            </a:pPr>
            <a:r>
              <a:rPr b="1" lang="en-US" sz="1000" spc="-1" strike="noStrike">
                <a:solidFill>
                  <a:srgbClr val="0c5341"/>
                </a:solidFill>
                <a:latin typeface="Kanit"/>
                <a:ea typeface="Kanit"/>
              </a:rPr>
              <a:t>2</a:t>
            </a:r>
            <a:endParaRPr b="0" lang="en-US" sz="1000" spc="-1" strike="noStrike">
              <a:solidFill>
                <a:srgbClr val="000000"/>
              </a:solidFill>
              <a:latin typeface="Arial"/>
            </a:endParaRPr>
          </a:p>
        </p:txBody>
      </p:sp>
      <p:sp>
        <p:nvSpPr>
          <p:cNvPr id="161" name="Text 10"/>
          <p:cNvSpPr/>
          <p:nvPr/>
        </p:nvSpPr>
        <p:spPr>
          <a:xfrm>
            <a:off x="3770640" y="2810520"/>
            <a:ext cx="1950840" cy="321120"/>
          </a:xfrm>
          <a:prstGeom prst="rect">
            <a:avLst/>
          </a:prstGeom>
          <a:noFill/>
          <a:ln w="0">
            <a:noFill/>
          </a:ln>
        </p:spPr>
        <p:style>
          <a:lnRef idx="0"/>
          <a:fillRef idx="0"/>
          <a:effectRef idx="0"/>
          <a:fontRef idx="minor"/>
        </p:style>
        <p:txBody>
          <a:bodyPr lIns="0" rIns="0" tIns="0" bIns="0" anchor="t">
            <a:normAutofit/>
          </a:bodyPr>
          <a:p>
            <a:pPr defTabSz="914400">
              <a:lnSpc>
                <a:spcPts val="1582"/>
              </a:lnSpc>
              <a:tabLst>
                <a:tab algn="l" pos="0"/>
              </a:tabLst>
            </a:pPr>
            <a:r>
              <a:rPr b="1" lang="en-US" sz="1320" spc="-1" strike="noStrike">
                <a:solidFill>
                  <a:srgbClr val="0c5341"/>
                </a:solidFill>
                <a:latin typeface="Kanit"/>
                <a:ea typeface="Kanit"/>
              </a:rPr>
              <a:t>Add us on LINE</a:t>
            </a:r>
            <a:endParaRPr b="0" lang="en-US" sz="1320" spc="-1" strike="noStrike">
              <a:solidFill>
                <a:srgbClr val="000000"/>
              </a:solidFill>
              <a:latin typeface="Arial"/>
            </a:endParaRPr>
          </a:p>
        </p:txBody>
      </p:sp>
      <p:sp>
        <p:nvSpPr>
          <p:cNvPr id="162" name="Text 11"/>
          <p:cNvSpPr/>
          <p:nvPr/>
        </p:nvSpPr>
        <p:spPr>
          <a:xfrm>
            <a:off x="3770640" y="3208680"/>
            <a:ext cx="1950840" cy="662400"/>
          </a:xfrm>
          <a:prstGeom prst="rect">
            <a:avLst/>
          </a:prstGeom>
          <a:noFill/>
          <a:ln w="0">
            <a:noFill/>
          </a:ln>
        </p:spPr>
        <p:style>
          <a:lnRef idx="0"/>
          <a:fillRef idx="0"/>
          <a:effectRef idx="0"/>
          <a:fontRef idx="minor"/>
        </p:style>
        <p:txBody>
          <a:bodyPr lIns="0" rIns="0" tIns="0" bIns="0" anchor="t">
            <a:normAutofit/>
          </a:bodyPr>
          <a:p>
            <a:pPr defTabSz="914400">
              <a:lnSpc>
                <a:spcPts val="1052"/>
              </a:lnSpc>
              <a:tabLst>
                <a:tab algn="l" pos="0"/>
              </a:tabLst>
            </a:pPr>
            <a:r>
              <a:rPr b="0" lang="en-US" sz="780" spc="-1" strike="noStrike">
                <a:solidFill>
                  <a:srgbClr val="4d5048"/>
                </a:solidFill>
                <a:latin typeface="Sarabun"/>
                <a:ea typeface="Sarabun"/>
              </a:rPr>
              <a:t>Scan a QR code at CMU, Payap, temples or cafés. A Thai welcome message pops up.</a:t>
            </a:r>
            <a:endParaRPr b="0" lang="en-US" sz="780" spc="-1" strike="noStrike">
              <a:solidFill>
                <a:srgbClr val="000000"/>
              </a:solidFill>
              <a:latin typeface="Arial"/>
            </a:endParaRPr>
          </a:p>
        </p:txBody>
      </p:sp>
      <p:sp>
        <p:nvSpPr>
          <p:cNvPr id="163" name="Shape 12"/>
          <p:cNvSpPr/>
          <p:nvPr/>
        </p:nvSpPr>
        <p:spPr>
          <a:xfrm>
            <a:off x="3770640" y="3947760"/>
            <a:ext cx="1893960" cy="319680"/>
          </a:xfrm>
          <a:prstGeom prst="roundRect">
            <a:avLst>
              <a:gd name="adj" fmla="val 50000"/>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4" name="Text 13"/>
          <p:cNvSpPr/>
          <p:nvPr/>
        </p:nvSpPr>
        <p:spPr>
          <a:xfrm>
            <a:off x="3885120" y="3985920"/>
            <a:ext cx="1716120" cy="268920"/>
          </a:xfrm>
          <a:prstGeom prst="rect">
            <a:avLst/>
          </a:prstGeom>
          <a:noFill/>
          <a:ln w="0">
            <a:noFill/>
          </a:ln>
        </p:spPr>
        <p:style>
          <a:lnRef idx="0"/>
          <a:fillRef idx="0"/>
          <a:effectRef idx="0"/>
          <a:fontRef idx="minor"/>
        </p:style>
        <p:txBody>
          <a:bodyPr lIns="0" rIns="0" tIns="0" bIns="0" anchor="t">
            <a:normAutofit/>
          </a:bodyPr>
          <a:p>
            <a:pPr defTabSz="914400">
              <a:lnSpc>
                <a:spcPts val="1244"/>
              </a:lnSpc>
              <a:tabLst>
                <a:tab algn="l" pos="0"/>
              </a:tabLst>
            </a:pPr>
            <a:r>
              <a:rPr b="1" lang="hi-IN" sz="889" spc="-1" strike="noStrike">
                <a:solidFill>
                  <a:srgbClr val="f7eedf"/>
                </a:solidFill>
                <a:latin typeface="Sarabun"/>
                <a:cs typeface="Sarabun"/>
              </a:rPr>
              <a:t>หาเพื่อน </a:t>
            </a:r>
            <a:r>
              <a:rPr b="1" lang="en-US" sz="889" spc="-1" strike="noStrike">
                <a:solidFill>
                  <a:srgbClr val="f7eedf"/>
                </a:solidFill>
                <a:latin typeface="Sarabun"/>
                <a:ea typeface="Sarabun"/>
              </a:rPr>
              <a:t>· Find a buddy</a:t>
            </a:r>
            <a:endParaRPr b="0" lang="en-US" sz="889" spc="-1" strike="noStrike">
              <a:solidFill>
                <a:srgbClr val="000000"/>
              </a:solidFill>
              <a:latin typeface="Arial"/>
            </a:endParaRPr>
          </a:p>
        </p:txBody>
      </p:sp>
      <p:sp>
        <p:nvSpPr>
          <p:cNvPr id="165" name="Shape 14"/>
          <p:cNvSpPr/>
          <p:nvPr/>
        </p:nvSpPr>
        <p:spPr>
          <a:xfrm>
            <a:off x="3770640" y="4369680"/>
            <a:ext cx="906840" cy="197640"/>
          </a:xfrm>
          <a:prstGeom prst="roundRect">
            <a:avLst>
              <a:gd name="adj" fmla="val 50000"/>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66" name="Text 15"/>
          <p:cNvSpPr/>
          <p:nvPr/>
        </p:nvSpPr>
        <p:spPr>
          <a:xfrm>
            <a:off x="3885120" y="4407840"/>
            <a:ext cx="729000" cy="146880"/>
          </a:xfrm>
          <a:prstGeom prst="rect">
            <a:avLst/>
          </a:prstGeom>
          <a:noFill/>
          <a:ln w="0">
            <a:noFill/>
          </a:ln>
        </p:spPr>
        <p:style>
          <a:lnRef idx="0"/>
          <a:fillRef idx="0"/>
          <a:effectRef idx="0"/>
          <a:fontRef idx="minor"/>
        </p:style>
        <p:txBody>
          <a:bodyPr lIns="0" rIns="0" tIns="0" bIns="0" anchor="t">
            <a:normAutofit/>
          </a:bodyPr>
          <a:p>
            <a:pPr defTabSz="914400">
              <a:lnSpc>
                <a:spcPts val="1009"/>
              </a:lnSpc>
              <a:tabLst>
                <a:tab algn="l" pos="0"/>
              </a:tabLst>
            </a:pPr>
            <a:r>
              <a:rPr b="1" lang="hi-IN" sz="720" spc="-1" strike="noStrike">
                <a:solidFill>
                  <a:srgbClr val="f7eedf"/>
                </a:solidFill>
                <a:latin typeface="Sarabun"/>
                <a:cs typeface="Sarabun"/>
              </a:rPr>
              <a:t>สมัคร </a:t>
            </a:r>
            <a:r>
              <a:rPr b="1" lang="en-US" sz="720" spc="-1" strike="noStrike">
                <a:solidFill>
                  <a:srgbClr val="f7eedf"/>
                </a:solidFill>
                <a:latin typeface="Sarabun"/>
                <a:ea typeface="Sarabun"/>
              </a:rPr>
              <a:t>· Join</a:t>
            </a:r>
            <a:endParaRPr b="0" lang="en-US" sz="720" spc="-1" strike="noStrike">
              <a:solidFill>
                <a:srgbClr val="000000"/>
              </a:solidFill>
              <a:latin typeface="Arial"/>
            </a:endParaRPr>
          </a:p>
        </p:txBody>
      </p:sp>
      <p:pic>
        <p:nvPicPr>
          <p:cNvPr id="167" name="Image 3" descr="arrow-right"/>
          <p:cNvPicPr/>
          <p:nvPr/>
        </p:nvPicPr>
        <p:blipFill>
          <a:blip r:embed="rId4"/>
          <a:stretch/>
        </p:blipFill>
        <p:spPr>
          <a:xfrm>
            <a:off x="5969160" y="3384720"/>
            <a:ext cx="253440" cy="177120"/>
          </a:xfrm>
          <a:prstGeom prst="rect">
            <a:avLst/>
          </a:prstGeom>
          <a:ln w="0">
            <a:noFill/>
          </a:ln>
        </p:spPr>
      </p:pic>
      <p:sp>
        <p:nvSpPr>
          <p:cNvPr id="168" name="Shape 16"/>
          <p:cNvSpPr/>
          <p:nvPr/>
        </p:nvSpPr>
        <p:spPr>
          <a:xfrm>
            <a:off x="6330960" y="2183040"/>
            <a:ext cx="2285280" cy="2580120"/>
          </a:xfrm>
          <a:prstGeom prst="roundRect">
            <a:avLst>
              <a:gd name="adj" fmla="val 6389"/>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69" name="Shape 17"/>
          <p:cNvSpPr/>
          <p:nvPr/>
        </p:nvSpPr>
        <p:spPr>
          <a:xfrm>
            <a:off x="6526800" y="2378880"/>
            <a:ext cx="329400" cy="329400"/>
          </a:xfrm>
          <a:prstGeom prst="roundRect">
            <a:avLst>
              <a:gd name="adj" fmla="val 50000"/>
            </a:avLst>
          </a:prstGeom>
          <a:solidFill>
            <a:srgbClr val="06c755"/>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0" name="Text 18"/>
          <p:cNvSpPr/>
          <p:nvPr/>
        </p:nvSpPr>
        <p:spPr>
          <a:xfrm>
            <a:off x="6501240" y="2378880"/>
            <a:ext cx="380160" cy="354960"/>
          </a:xfrm>
          <a:prstGeom prst="rect">
            <a:avLst/>
          </a:prstGeom>
          <a:noFill/>
          <a:ln w="0">
            <a:noFill/>
          </a:ln>
        </p:spPr>
        <p:style>
          <a:lnRef idx="0"/>
          <a:fillRef idx="0"/>
          <a:effectRef idx="0"/>
          <a:fontRef idx="minor"/>
        </p:style>
        <p:txBody>
          <a:bodyPr lIns="0" rIns="0" tIns="0" bIns="0" anchor="t">
            <a:normAutofit/>
          </a:bodyPr>
          <a:p>
            <a:pPr algn="ctr" defTabSz="914400">
              <a:lnSpc>
                <a:spcPts val="1746"/>
              </a:lnSpc>
              <a:tabLst>
                <a:tab algn="l" pos="0"/>
              </a:tabLst>
            </a:pPr>
            <a:r>
              <a:rPr b="1" lang="en-US" sz="1000" spc="-1" strike="noStrike">
                <a:solidFill>
                  <a:srgbClr val="0c5341"/>
                </a:solidFill>
                <a:latin typeface="Kanit"/>
                <a:ea typeface="Kanit"/>
              </a:rPr>
              <a:t>3</a:t>
            </a:r>
            <a:endParaRPr b="0" lang="en-US" sz="1000" spc="-1" strike="noStrike">
              <a:solidFill>
                <a:srgbClr val="000000"/>
              </a:solidFill>
              <a:latin typeface="Arial"/>
            </a:endParaRPr>
          </a:p>
        </p:txBody>
      </p:sp>
      <p:sp>
        <p:nvSpPr>
          <p:cNvPr id="171" name="Text 19"/>
          <p:cNvSpPr/>
          <p:nvPr/>
        </p:nvSpPr>
        <p:spPr>
          <a:xfrm>
            <a:off x="6526800" y="2810520"/>
            <a:ext cx="1950840" cy="437400"/>
          </a:xfrm>
          <a:prstGeom prst="rect">
            <a:avLst/>
          </a:prstGeom>
          <a:noFill/>
          <a:ln w="0">
            <a:noFill/>
          </a:ln>
        </p:spPr>
        <p:style>
          <a:lnRef idx="0"/>
          <a:fillRef idx="0"/>
          <a:effectRef idx="0"/>
          <a:fontRef idx="minor"/>
        </p:style>
        <p:txBody>
          <a:bodyPr lIns="0" rIns="0" tIns="0" bIns="0" anchor="t">
            <a:normAutofit/>
          </a:bodyPr>
          <a:p>
            <a:pPr defTabSz="914400">
              <a:lnSpc>
                <a:spcPts val="1225"/>
              </a:lnSpc>
              <a:tabLst>
                <a:tab algn="l" pos="0"/>
              </a:tabLst>
            </a:pPr>
            <a:r>
              <a:rPr b="1" lang="en-US" sz="1020" spc="-1" strike="noStrike">
                <a:solidFill>
                  <a:srgbClr val="0c5341"/>
                </a:solidFill>
                <a:latin typeface="Kanit"/>
                <a:ea typeface="Kanit"/>
              </a:rPr>
              <a:t>Tap through to the app</a:t>
            </a:r>
            <a:endParaRPr b="0" lang="en-US" sz="1020" spc="-1" strike="noStrike">
              <a:solidFill>
                <a:srgbClr val="000000"/>
              </a:solidFill>
              <a:latin typeface="Arial"/>
            </a:endParaRPr>
          </a:p>
        </p:txBody>
      </p:sp>
      <p:sp>
        <p:nvSpPr>
          <p:cNvPr id="172" name="Text 20"/>
          <p:cNvSpPr/>
          <p:nvPr/>
        </p:nvSpPr>
        <p:spPr>
          <a:xfrm>
            <a:off x="6526800" y="3324960"/>
            <a:ext cx="1950840" cy="1267560"/>
          </a:xfrm>
          <a:prstGeom prst="rect">
            <a:avLst/>
          </a:prstGeom>
          <a:noFill/>
          <a:ln w="0">
            <a:noFill/>
          </a:ln>
        </p:spPr>
        <p:style>
          <a:lnRef idx="0"/>
          <a:fillRef idx="0"/>
          <a:effectRef idx="0"/>
          <a:fontRef idx="minor"/>
        </p:style>
        <p:txBody>
          <a:bodyPr lIns="0" rIns="0" tIns="0" bIns="0" anchor="t">
            <a:normAutofit/>
          </a:bodyPr>
          <a:p>
            <a:pPr defTabSz="914400">
              <a:lnSpc>
                <a:spcPts val="1304"/>
              </a:lnSpc>
              <a:tabLst>
                <a:tab algn="l" pos="0"/>
              </a:tabLst>
            </a:pPr>
            <a:r>
              <a:rPr b="0" lang="en-US" sz="960" spc="-1" strike="noStrike">
                <a:solidFill>
                  <a:srgbClr val="4d5048"/>
                </a:solidFill>
                <a:latin typeface="Sarabun"/>
                <a:ea typeface="Sarabun"/>
              </a:rPr>
              <a:t>One tap from LINE into Bpai Duay Gan. Thai first: Thai language, Thai welcome, Thai-friendly events.</a:t>
            </a:r>
            <a:endParaRPr b="0" lang="en-US" sz="960" spc="-1" strike="noStrike">
              <a:solidFill>
                <a:srgbClr val="000000"/>
              </a:solidFill>
              <a:latin typeface="Arial"/>
            </a:endParaRPr>
          </a:p>
        </p:txBody>
      </p:sp>
      <p:pic>
        <p:nvPicPr>
          <p:cNvPr id="173" name="Image 4" descr="arrow-right"/>
          <p:cNvPicPr/>
          <p:nvPr/>
        </p:nvPicPr>
        <p:blipFill>
          <a:blip r:embed="rId5"/>
          <a:stretch/>
        </p:blipFill>
        <p:spPr>
          <a:xfrm>
            <a:off x="8724960" y="3384720"/>
            <a:ext cx="253440" cy="177120"/>
          </a:xfrm>
          <a:prstGeom prst="rect">
            <a:avLst/>
          </a:prstGeom>
          <a:ln w="0">
            <a:noFill/>
          </a:ln>
        </p:spPr>
      </p:pic>
      <p:sp>
        <p:nvSpPr>
          <p:cNvPr id="174" name="Shape 21"/>
          <p:cNvSpPr/>
          <p:nvPr/>
        </p:nvSpPr>
        <p:spPr>
          <a:xfrm>
            <a:off x="9086760" y="2183040"/>
            <a:ext cx="2285280" cy="2580120"/>
          </a:xfrm>
          <a:prstGeom prst="roundRect">
            <a:avLst>
              <a:gd name="adj" fmla="val 6389"/>
            </a:avLst>
          </a:prstGeom>
          <a:solidFill>
            <a:srgbClr val="fffbf3"/>
          </a:solidFill>
          <a:ln w="12700">
            <a:solidFill>
              <a:srgbClr val="e6d6bc"/>
            </a:solidFill>
            <a:round/>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75" name="Shape 22"/>
          <p:cNvSpPr/>
          <p:nvPr/>
        </p:nvSpPr>
        <p:spPr>
          <a:xfrm>
            <a:off x="9282600" y="2378880"/>
            <a:ext cx="329400" cy="329400"/>
          </a:xfrm>
          <a:prstGeom prst="roundRect">
            <a:avLst>
              <a:gd name="adj" fmla="val 50000"/>
            </a:avLst>
          </a:prstGeom>
          <a:solidFill>
            <a:srgbClr val="06c755"/>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176" name="Text 23"/>
          <p:cNvSpPr/>
          <p:nvPr/>
        </p:nvSpPr>
        <p:spPr>
          <a:xfrm>
            <a:off x="9257040" y="2378880"/>
            <a:ext cx="380160" cy="354960"/>
          </a:xfrm>
          <a:prstGeom prst="rect">
            <a:avLst/>
          </a:prstGeom>
          <a:noFill/>
          <a:ln w="0">
            <a:noFill/>
          </a:ln>
        </p:spPr>
        <p:style>
          <a:lnRef idx="0"/>
          <a:fillRef idx="0"/>
          <a:effectRef idx="0"/>
          <a:fontRef idx="minor"/>
        </p:style>
        <p:txBody>
          <a:bodyPr lIns="0" rIns="0" tIns="0" bIns="0" anchor="t">
            <a:normAutofit/>
          </a:bodyPr>
          <a:p>
            <a:pPr algn="ctr" defTabSz="914400">
              <a:lnSpc>
                <a:spcPts val="1746"/>
              </a:lnSpc>
              <a:tabLst>
                <a:tab algn="l" pos="0"/>
              </a:tabLst>
            </a:pPr>
            <a:r>
              <a:rPr b="1" lang="en-US" sz="1000" spc="-1" strike="noStrike">
                <a:solidFill>
                  <a:srgbClr val="0c5341"/>
                </a:solidFill>
                <a:latin typeface="Kanit"/>
                <a:ea typeface="Kanit"/>
              </a:rPr>
              <a:t>4</a:t>
            </a:r>
            <a:endParaRPr b="0" lang="en-US" sz="1000" spc="-1" strike="noStrike">
              <a:solidFill>
                <a:srgbClr val="000000"/>
              </a:solidFill>
              <a:latin typeface="Arial"/>
            </a:endParaRPr>
          </a:p>
        </p:txBody>
      </p:sp>
      <p:sp>
        <p:nvSpPr>
          <p:cNvPr id="177" name="Text 24"/>
          <p:cNvSpPr/>
          <p:nvPr/>
        </p:nvSpPr>
        <p:spPr>
          <a:xfrm>
            <a:off x="9282600" y="2810520"/>
            <a:ext cx="1950840" cy="437400"/>
          </a:xfrm>
          <a:prstGeom prst="rect">
            <a:avLst/>
          </a:prstGeom>
          <a:noFill/>
          <a:ln w="0">
            <a:noFill/>
          </a:ln>
        </p:spPr>
        <p:style>
          <a:lnRef idx="0"/>
          <a:fillRef idx="0"/>
          <a:effectRef idx="0"/>
          <a:fontRef idx="minor"/>
        </p:style>
        <p:txBody>
          <a:bodyPr lIns="0" rIns="0" tIns="0" bIns="0" anchor="t">
            <a:normAutofit/>
          </a:bodyPr>
          <a:p>
            <a:pPr defTabSz="914400">
              <a:lnSpc>
                <a:spcPts val="2035"/>
              </a:lnSpc>
              <a:tabLst>
                <a:tab algn="l" pos="0"/>
              </a:tabLst>
            </a:pPr>
            <a:r>
              <a:rPr b="1" lang="en-US" sz="1700" spc="-1" strike="noStrike">
                <a:solidFill>
                  <a:srgbClr val="0c5341"/>
                </a:solidFill>
                <a:latin typeface="Kanit"/>
                <a:ea typeface="Kanit"/>
              </a:rPr>
              <a:t>Feel at home</a:t>
            </a:r>
            <a:endParaRPr b="0" lang="en-US" sz="1700" spc="-1" strike="noStrike">
              <a:solidFill>
                <a:srgbClr val="000000"/>
              </a:solidFill>
              <a:latin typeface="Arial"/>
            </a:endParaRPr>
          </a:p>
        </p:txBody>
      </p:sp>
      <p:sp>
        <p:nvSpPr>
          <p:cNvPr id="178" name="Text 25"/>
          <p:cNvSpPr/>
          <p:nvPr/>
        </p:nvSpPr>
        <p:spPr>
          <a:xfrm>
            <a:off x="9282600" y="3324960"/>
            <a:ext cx="1950840" cy="1267560"/>
          </a:xfrm>
          <a:prstGeom prst="rect">
            <a:avLst/>
          </a:prstGeom>
          <a:noFill/>
          <a:ln w="0">
            <a:noFill/>
          </a:ln>
        </p:spPr>
        <p:style>
          <a:lnRef idx="0"/>
          <a:fillRef idx="0"/>
          <a:effectRef idx="0"/>
          <a:fontRef idx="minor"/>
        </p:style>
        <p:txBody>
          <a:bodyPr lIns="0" rIns="0" tIns="0" bIns="0" anchor="t">
            <a:normAutofit/>
          </a:bodyPr>
          <a:p>
            <a:pPr defTabSz="914400">
              <a:lnSpc>
                <a:spcPts val="1304"/>
              </a:lnSpc>
              <a:tabLst>
                <a:tab algn="l" pos="0"/>
              </a:tabLst>
            </a:pPr>
            <a:r>
              <a:rPr b="0" lang="en-US" sz="960" spc="-1" strike="noStrike">
                <a:solidFill>
                  <a:srgbClr val="4d5048"/>
                </a:solidFill>
                <a:latin typeface="Sarabun"/>
                <a:ea typeface="Sarabun"/>
              </a:rPr>
              <a:t>An app built to feel comfortable for Thais. Their meetup photos become next week's LINE posts.</a:t>
            </a:r>
            <a:endParaRPr b="0" lang="en-US" sz="960" spc="-1" strike="noStrike">
              <a:solidFill>
                <a:srgbClr val="000000"/>
              </a:solidFill>
              <a:latin typeface="Arial"/>
            </a:endParaRPr>
          </a:p>
        </p:txBody>
      </p:sp>
      <p:sp>
        <p:nvSpPr>
          <p:cNvPr id="179" name="Shape 26"/>
          <p:cNvSpPr/>
          <p:nvPr/>
        </p:nvSpPr>
        <p:spPr>
          <a:xfrm>
            <a:off x="812880" y="5024160"/>
            <a:ext cx="10565640" cy="1071000"/>
          </a:xfrm>
          <a:prstGeom prst="roundRect">
            <a:avLst>
              <a:gd name="adj" fmla="val 14218"/>
            </a:avLst>
          </a:prstGeom>
          <a:solidFill>
            <a:srgbClr val="0c5341"/>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pic>
        <p:nvPicPr>
          <p:cNvPr id="180" name="Image 5" descr="Chat"/>
          <p:cNvPicPr/>
          <p:nvPr/>
        </p:nvPicPr>
        <p:blipFill>
          <a:blip r:embed="rId6"/>
          <a:stretch/>
        </p:blipFill>
        <p:spPr>
          <a:xfrm>
            <a:off x="1041480" y="5420520"/>
            <a:ext cx="278640" cy="278640"/>
          </a:xfrm>
          <a:prstGeom prst="rect">
            <a:avLst/>
          </a:prstGeom>
          <a:ln w="0">
            <a:noFill/>
          </a:ln>
        </p:spPr>
      </p:pic>
      <p:sp>
        <p:nvSpPr>
          <p:cNvPr id="181" name="Text 27"/>
          <p:cNvSpPr/>
          <p:nvPr/>
        </p:nvSpPr>
        <p:spPr>
          <a:xfrm>
            <a:off x="1473120" y="5163840"/>
            <a:ext cx="9966960" cy="817200"/>
          </a:xfrm>
          <a:prstGeom prst="rect">
            <a:avLst/>
          </a:prstGeom>
          <a:noFill/>
          <a:ln w="0">
            <a:noFill/>
          </a:ln>
        </p:spPr>
        <p:style>
          <a:lnRef idx="0"/>
          <a:fillRef idx="0"/>
          <a:effectRef idx="0"/>
          <a:fontRef idx="minor"/>
        </p:style>
        <p:txBody>
          <a:bodyPr lIns="0" rIns="0" tIns="0" bIns="0" anchor="t">
            <a:normAutofit/>
          </a:bodyPr>
          <a:p>
            <a:pPr defTabSz="914400">
              <a:lnSpc>
                <a:spcPts val="2081"/>
              </a:lnSpc>
              <a:tabLst>
                <a:tab algn="l" pos="0"/>
              </a:tabLst>
            </a:pPr>
            <a:r>
              <a:rPr b="0" lang="en-US" sz="1600" spc="-1" strike="noStrike">
                <a:solidFill>
                  <a:srgbClr val="f7eedf"/>
                </a:solidFill>
                <a:latin typeface="Kanit"/>
                <a:ea typeface="Kanit"/>
              </a:rPr>
              <a:t>LINE is where Thais discover us. Bpai Duay Gan is where they feel at home.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efdfc8"/>
        </a:solidFill>
      </p:bgPr>
    </p:bg>
    <p:spTree>
      <p:nvGrpSpPr>
        <p:cNvPr id="1" name=""/>
        <p:cNvGrpSpPr/>
        <p:nvPr/>
      </p:nvGrpSpPr>
      <p:grpSpPr>
        <a:xfrm>
          <a:off x="0" y="0"/>
          <a:ext cx="0" cy="0"/>
          <a:chOff x="0" y="0"/>
          <a:chExt cx="0" cy="0"/>
        </a:xfrm>
      </p:grpSpPr>
      <p:sp>
        <p:nvSpPr>
          <p:cNvPr id="182" name="Text 0"/>
          <p:cNvSpPr/>
          <p:nvPr/>
        </p:nvSpPr>
        <p:spPr>
          <a:xfrm>
            <a:off x="812880" y="812880"/>
            <a:ext cx="10882800" cy="371520"/>
          </a:xfrm>
          <a:prstGeom prst="rect">
            <a:avLst/>
          </a:prstGeom>
          <a:noFill/>
          <a:ln w="0">
            <a:noFill/>
          </a:ln>
        </p:spPr>
        <p:style>
          <a:lnRef idx="0"/>
          <a:fillRef idx="0"/>
          <a:effectRef idx="0"/>
          <a:fontRef idx="minor"/>
        </p:style>
        <p:txBody>
          <a:bodyPr lIns="0" rIns="0" tIns="0" bIns="0" anchor="t">
            <a:normAutofit/>
          </a:bodyPr>
          <a:p>
            <a:pPr defTabSz="914400">
              <a:lnSpc>
                <a:spcPts val="1820"/>
              </a:lnSpc>
              <a:tabLst>
                <a:tab algn="l" pos="0"/>
              </a:tabLst>
            </a:pPr>
            <a:r>
              <a:rPr b="1" lang="en-US" sz="1300" spc="145" strike="noStrike">
                <a:solidFill>
                  <a:srgbClr val="a33a08"/>
                </a:solidFill>
                <a:latin typeface="Sarabun"/>
                <a:ea typeface="Sarabun"/>
              </a:rPr>
              <a:t>DAY-ONE IMPACT</a:t>
            </a:r>
            <a:endParaRPr b="0" lang="en-US" sz="1300" spc="-1" strike="noStrike">
              <a:solidFill>
                <a:srgbClr val="000000"/>
              </a:solidFill>
              <a:latin typeface="Arial"/>
            </a:endParaRPr>
          </a:p>
        </p:txBody>
      </p:sp>
      <p:sp>
        <p:nvSpPr>
          <p:cNvPr id="183" name="Text 1"/>
          <p:cNvSpPr/>
          <p:nvPr/>
        </p:nvSpPr>
        <p:spPr>
          <a:xfrm>
            <a:off x="812880" y="1286640"/>
            <a:ext cx="10882800" cy="779040"/>
          </a:xfrm>
          <a:prstGeom prst="rect">
            <a:avLst/>
          </a:prstGeom>
          <a:noFill/>
          <a:ln w="0">
            <a:noFill/>
          </a:ln>
        </p:spPr>
        <p:style>
          <a:lnRef idx="0"/>
          <a:fillRef idx="0"/>
          <a:effectRef idx="0"/>
          <a:fontRef idx="minor"/>
        </p:style>
        <p:txBody>
          <a:bodyPr lIns="0" rIns="0" tIns="0" bIns="0" anchor="t">
            <a:normAutofit/>
          </a:bodyPr>
          <a:p>
            <a:pPr defTabSz="914400">
              <a:lnSpc>
                <a:spcPts val="3960"/>
              </a:lnSpc>
              <a:tabLst>
                <a:tab algn="l" pos="0"/>
              </a:tabLst>
            </a:pPr>
            <a:r>
              <a:rPr b="1" lang="en-US" sz="3600" spc="-1" strike="noStrike">
                <a:solidFill>
                  <a:srgbClr val="0c5341"/>
                </a:solidFill>
                <a:latin typeface="Kanit"/>
                <a:ea typeface="Kanit"/>
              </a:rPr>
              <a:t>Useful from the very first sign-up.</a:t>
            </a:r>
            <a:endParaRPr b="0" lang="en-US" sz="3600" spc="-1" strike="noStrike">
              <a:solidFill>
                <a:srgbClr val="000000"/>
              </a:solidFill>
              <a:latin typeface="Arial"/>
            </a:endParaRPr>
          </a:p>
        </p:txBody>
      </p:sp>
      <p:sp>
        <p:nvSpPr>
          <p:cNvPr id="184" name="Rounded Rectangle 171"/>
          <p:cNvSpPr/>
          <p:nvPr/>
        </p:nvSpPr>
        <p:spPr>
          <a:xfrm>
            <a:off x="822960" y="2212920"/>
            <a:ext cx="3373920" cy="3017160"/>
          </a:xfrm>
          <a:prstGeom prst="roundRect">
            <a:avLst>
              <a:gd name="adj" fmla="val 6000"/>
            </a:avLst>
          </a:prstGeom>
          <a:solidFill>
            <a:srgbClr val="fffbf3"/>
          </a:solidFill>
          <a:ln w="12700">
            <a:solidFill>
              <a:srgbClr val="e6d6bc"/>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pic>
        <p:nvPicPr>
          <p:cNvPr id="185" name="Picture 172" descr="A Thai woman and a foreign woman laughing while cooking"/>
          <p:cNvPicPr/>
          <p:nvPr/>
        </p:nvPicPr>
        <p:blipFill>
          <a:blip r:embed="rId1"/>
          <a:srcRect l="0" t="8088" r="0" b="18871"/>
          <a:stretch/>
        </p:blipFill>
        <p:spPr>
          <a:xfrm>
            <a:off x="960120" y="2350080"/>
            <a:ext cx="3099600" cy="1462680"/>
          </a:xfrm>
          <a:prstGeom prst="rect">
            <a:avLst/>
          </a:prstGeom>
          <a:ln w="0">
            <a:noFill/>
          </a:ln>
        </p:spPr>
      </p:pic>
      <p:sp>
        <p:nvSpPr>
          <p:cNvPr id="186" name="Smiley"/>
          <p:cNvSpPr/>
          <p:nvPr/>
        </p:nvSpPr>
        <p:spPr>
          <a:xfrm>
            <a:off x="3465720" y="3493080"/>
            <a:ext cx="548280" cy="548280"/>
          </a:xfrm>
          <a:prstGeom prst="smileyFace">
            <a:avLst>
              <a:gd name="adj" fmla="val 4653"/>
            </a:avLst>
          </a:prstGeom>
          <a:solidFill>
            <a:srgbClr val="fcaa16"/>
          </a:solidFill>
          <a:ln w="25400">
            <a:solidFill>
              <a:srgbClr val="0c5341"/>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187" name="TextBox 174"/>
          <p:cNvSpPr/>
          <p:nvPr/>
        </p:nvSpPr>
        <p:spPr>
          <a:xfrm>
            <a:off x="1051560" y="3996000"/>
            <a:ext cx="2916720" cy="244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600" spc="-1" strike="noStrike">
                <a:solidFill>
                  <a:srgbClr val="0c5341"/>
                </a:solidFill>
                <a:latin typeface="Kanit"/>
              </a:rPr>
              <a:t>Works today, on any phone</a:t>
            </a:r>
            <a:endParaRPr b="0" lang="en-US" sz="1600" spc="-1" strike="noStrike">
              <a:solidFill>
                <a:srgbClr val="000000"/>
              </a:solidFill>
              <a:latin typeface="Arial"/>
            </a:endParaRPr>
          </a:p>
        </p:txBody>
      </p:sp>
      <p:sp>
        <p:nvSpPr>
          <p:cNvPr id="188" name="TextBox 175"/>
          <p:cNvSpPr/>
          <p:nvPr/>
        </p:nvSpPr>
        <p:spPr>
          <a:xfrm>
            <a:off x="1051560" y="4608720"/>
            <a:ext cx="2916720" cy="36612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4d5048"/>
                </a:solidFill>
                <a:latin typeface="Sarabun"/>
              </a:rPr>
              <a:t>Just a link, no app store. Found on LINE, built to feel Thai.</a:t>
            </a:r>
            <a:endParaRPr b="0" lang="en-US" sz="1200" spc="-1" strike="noStrike">
              <a:solidFill>
                <a:srgbClr val="000000"/>
              </a:solidFill>
              <a:latin typeface="Arial"/>
            </a:endParaRPr>
          </a:p>
        </p:txBody>
      </p:sp>
      <p:sp>
        <p:nvSpPr>
          <p:cNvPr id="189" name="Rounded Rectangle 176"/>
          <p:cNvSpPr/>
          <p:nvPr/>
        </p:nvSpPr>
        <p:spPr>
          <a:xfrm>
            <a:off x="4407480" y="2212920"/>
            <a:ext cx="3373920" cy="3017160"/>
          </a:xfrm>
          <a:prstGeom prst="roundRect">
            <a:avLst>
              <a:gd name="adj" fmla="val 6000"/>
            </a:avLst>
          </a:prstGeom>
          <a:solidFill>
            <a:srgbClr val="fffbf3"/>
          </a:solidFill>
          <a:ln w="12700">
            <a:solidFill>
              <a:srgbClr val="e6d6bc"/>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pic>
        <p:nvPicPr>
          <p:cNvPr id="190" name="Picture 177" descr="Locals and foreign volunteers smiling after a temple clean-up"/>
          <p:cNvPicPr/>
          <p:nvPr/>
        </p:nvPicPr>
        <p:blipFill>
          <a:blip r:embed="rId2"/>
          <a:srcRect l="0" t="10330" r="0" b="24102"/>
          <a:stretch/>
        </p:blipFill>
        <p:spPr>
          <a:xfrm>
            <a:off x="4544640" y="2350080"/>
            <a:ext cx="3099600" cy="1462680"/>
          </a:xfrm>
          <a:prstGeom prst="rect">
            <a:avLst/>
          </a:prstGeom>
          <a:ln w="0">
            <a:noFill/>
          </a:ln>
        </p:spPr>
      </p:pic>
      <p:sp>
        <p:nvSpPr>
          <p:cNvPr id="191" name="Smiley"/>
          <p:cNvSpPr/>
          <p:nvPr/>
        </p:nvSpPr>
        <p:spPr>
          <a:xfrm>
            <a:off x="7049880" y="3493080"/>
            <a:ext cx="548280" cy="548280"/>
          </a:xfrm>
          <a:prstGeom prst="smileyFace">
            <a:avLst>
              <a:gd name="adj" fmla="val 4653"/>
            </a:avLst>
          </a:prstGeom>
          <a:solidFill>
            <a:srgbClr val="fcaa16"/>
          </a:solidFill>
          <a:ln w="25400">
            <a:solidFill>
              <a:srgbClr val="0c5341"/>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192" name="TextBox 179"/>
          <p:cNvSpPr/>
          <p:nvPr/>
        </p:nvSpPr>
        <p:spPr>
          <a:xfrm>
            <a:off x="4636080" y="3996000"/>
            <a:ext cx="2916720" cy="244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600" spc="-1" strike="noStrike">
                <a:solidFill>
                  <a:srgbClr val="0c5341"/>
                </a:solidFill>
                <a:latin typeface="Kanit"/>
              </a:rPr>
              <a:t>Nomads join local life</a:t>
            </a:r>
            <a:endParaRPr b="0" lang="en-US" sz="1600" spc="-1" strike="noStrike">
              <a:solidFill>
                <a:srgbClr val="000000"/>
              </a:solidFill>
              <a:latin typeface="Arial"/>
            </a:endParaRPr>
          </a:p>
        </p:txBody>
      </p:sp>
      <p:sp>
        <p:nvSpPr>
          <p:cNvPr id="193" name="TextBox 180"/>
          <p:cNvSpPr/>
          <p:nvPr/>
        </p:nvSpPr>
        <p:spPr>
          <a:xfrm>
            <a:off x="4636080" y="4608720"/>
            <a:ext cx="2916720" cy="36612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4d5048"/>
                </a:solidFill>
                <a:latin typeface="Sarabun"/>
              </a:rPr>
              <a:t>Time and money spent with locals, not just around them.</a:t>
            </a:r>
            <a:endParaRPr b="0" lang="en-US" sz="1200" spc="-1" strike="noStrike">
              <a:solidFill>
                <a:srgbClr val="000000"/>
              </a:solidFill>
              <a:latin typeface="Arial"/>
            </a:endParaRPr>
          </a:p>
        </p:txBody>
      </p:sp>
      <p:sp>
        <p:nvSpPr>
          <p:cNvPr id="194" name="Rounded Rectangle 181"/>
          <p:cNvSpPr/>
          <p:nvPr/>
        </p:nvSpPr>
        <p:spPr>
          <a:xfrm>
            <a:off x="8001000" y="2212920"/>
            <a:ext cx="3373920" cy="3017160"/>
          </a:xfrm>
          <a:prstGeom prst="roundRect">
            <a:avLst>
              <a:gd name="adj" fmla="val 6000"/>
            </a:avLst>
          </a:prstGeom>
          <a:solidFill>
            <a:srgbClr val="fffbf3"/>
          </a:solidFill>
          <a:ln w="12700">
            <a:solidFill>
              <a:srgbClr val="e6d6bc"/>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pic>
        <p:nvPicPr>
          <p:cNvPr id="195" name="Picture 182" descr="Thai and foreign participants smiling with the beeswax wraps they made"/>
          <p:cNvPicPr/>
          <p:nvPr/>
        </p:nvPicPr>
        <p:blipFill>
          <a:blip r:embed="rId3"/>
          <a:srcRect l="0" t="7575" r="0" b="17674"/>
          <a:stretch/>
        </p:blipFill>
        <p:spPr>
          <a:xfrm>
            <a:off x="8138160" y="2350080"/>
            <a:ext cx="3099600" cy="1462680"/>
          </a:xfrm>
          <a:prstGeom prst="rect">
            <a:avLst/>
          </a:prstGeom>
          <a:ln w="0">
            <a:noFill/>
          </a:ln>
        </p:spPr>
      </p:pic>
      <p:sp>
        <p:nvSpPr>
          <p:cNvPr id="196" name="Smiley"/>
          <p:cNvSpPr/>
          <p:nvPr/>
        </p:nvSpPr>
        <p:spPr>
          <a:xfrm>
            <a:off x="10643760" y="3493080"/>
            <a:ext cx="548280" cy="548280"/>
          </a:xfrm>
          <a:prstGeom prst="smileyFace">
            <a:avLst>
              <a:gd name="adj" fmla="val 4653"/>
            </a:avLst>
          </a:prstGeom>
          <a:solidFill>
            <a:srgbClr val="fcaa16"/>
          </a:solidFill>
          <a:ln w="25400">
            <a:solidFill>
              <a:srgbClr val="0c5341"/>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197" name="TextBox 184"/>
          <p:cNvSpPr/>
          <p:nvPr/>
        </p:nvSpPr>
        <p:spPr>
          <a:xfrm>
            <a:off x="8229600" y="3996000"/>
            <a:ext cx="2916720" cy="2440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600" spc="-1" strike="noStrike">
                <a:solidFill>
                  <a:srgbClr val="0c5341"/>
                </a:solidFill>
                <a:latin typeface="Kanit"/>
              </a:rPr>
              <a:t>Locals gain skills and friends</a:t>
            </a:r>
            <a:endParaRPr b="0" lang="en-US" sz="1600" spc="-1" strike="noStrike">
              <a:solidFill>
                <a:srgbClr val="000000"/>
              </a:solidFill>
              <a:latin typeface="Arial"/>
            </a:endParaRPr>
          </a:p>
        </p:txBody>
      </p:sp>
      <p:sp>
        <p:nvSpPr>
          <p:cNvPr id="198" name="TextBox 185"/>
          <p:cNvSpPr/>
          <p:nvPr/>
        </p:nvSpPr>
        <p:spPr>
          <a:xfrm>
            <a:off x="8229600" y="4608720"/>
            <a:ext cx="2916720" cy="36612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200" spc="-1" strike="noStrike">
                <a:solidFill>
                  <a:srgbClr val="4d5048"/>
                </a:solidFill>
                <a:latin typeface="Sarabun"/>
              </a:rPr>
              <a:t>Plus English practice and new income opportunities.</a:t>
            </a:r>
            <a:endParaRPr b="0" lang="en-US" sz="1200" spc="-1" strike="noStrike">
              <a:solidFill>
                <a:srgbClr val="000000"/>
              </a:solidFill>
              <a:latin typeface="Arial"/>
            </a:endParaRPr>
          </a:p>
        </p:txBody>
      </p:sp>
      <p:sp>
        <p:nvSpPr>
          <p:cNvPr id="199" name="Rounded Rectangle 186"/>
          <p:cNvSpPr/>
          <p:nvPr/>
        </p:nvSpPr>
        <p:spPr>
          <a:xfrm>
            <a:off x="822960" y="5413320"/>
            <a:ext cx="10560960" cy="932400"/>
          </a:xfrm>
          <a:prstGeom prst="roundRect">
            <a:avLst>
              <a:gd name="adj" fmla="val 18000"/>
            </a:avLst>
          </a:prstGeom>
          <a:solidFill>
            <a:srgbClr val="0c5341"/>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00" name="Smiley"/>
          <p:cNvSpPr/>
          <p:nvPr/>
        </p:nvSpPr>
        <p:spPr>
          <a:xfrm>
            <a:off x="1051560" y="5605200"/>
            <a:ext cx="548280" cy="548280"/>
          </a:xfrm>
          <a:prstGeom prst="smileyFace">
            <a:avLst>
              <a:gd name="adj" fmla="val 4653"/>
            </a:avLst>
          </a:prstGeom>
          <a:solidFill>
            <a:srgbClr val="fcaa16"/>
          </a:solidFill>
          <a:ln w="25400">
            <a:solidFill>
              <a:srgbClr val="0c5341"/>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01" name="TextBox 188"/>
          <p:cNvSpPr/>
          <p:nvPr/>
        </p:nvSpPr>
        <p:spPr>
          <a:xfrm>
            <a:off x="1783080" y="5513760"/>
            <a:ext cx="9417960" cy="27468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800" spc="-1" strike="noStrike">
                <a:solidFill>
                  <a:srgbClr val="f7eedf"/>
                </a:solidFill>
                <a:latin typeface="Kanit"/>
              </a:rPr>
              <a:t>Launching with Chiang Mai University, Payap University and STeP</a:t>
            </a:r>
            <a:endParaRPr b="0" lang="en-US" sz="1800" spc="-1" strike="noStrike">
              <a:solidFill>
                <a:srgbClr val="000000"/>
              </a:solidFill>
              <a:latin typeface="Arial"/>
            </a:endParaRPr>
          </a:p>
        </p:txBody>
      </p:sp>
      <p:sp>
        <p:nvSpPr>
          <p:cNvPr id="202" name="TextBox 189"/>
          <p:cNvSpPr/>
          <p:nvPr/>
        </p:nvSpPr>
        <p:spPr>
          <a:xfrm>
            <a:off x="1783080" y="5916240"/>
            <a:ext cx="9417960" cy="20592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350" spc="-1" strike="noStrike">
                <a:solidFill>
                  <a:srgbClr val="cfe3dc"/>
                </a:solidFill>
                <a:latin typeface="Sarabun"/>
              </a:rPr>
              <a:t>Thai students and foreign talent, learning from each other.</a:t>
            </a:r>
            <a:endParaRPr b="0" lang="en-US" sz="13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eedf"/>
        </a:solidFill>
      </p:bgPr>
    </p:bg>
    <p:spTree>
      <p:nvGrpSpPr>
        <p:cNvPr id="1" name=""/>
        <p:cNvGrpSpPr/>
        <p:nvPr/>
      </p:nvGrpSpPr>
      <p:grpSpPr>
        <a:xfrm>
          <a:off x="0" y="0"/>
          <a:ext cx="0" cy="0"/>
          <a:chOff x="0" y="0"/>
          <a:chExt cx="0" cy="0"/>
        </a:xfrm>
      </p:grpSpPr>
      <p:sp>
        <p:nvSpPr>
          <p:cNvPr id="203" name="TextBox 1"/>
          <p:cNvSpPr/>
          <p:nvPr/>
        </p:nvSpPr>
        <p:spPr>
          <a:xfrm>
            <a:off x="822960" y="685800"/>
            <a:ext cx="10515240" cy="198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300" spc="-1" strike="noStrike">
                <a:solidFill>
                  <a:srgbClr val="a33a08"/>
                </a:solidFill>
                <a:latin typeface="Sarabun"/>
              </a:rPr>
              <a:t>BUILT TOGETHER</a:t>
            </a:r>
            <a:endParaRPr b="0" lang="en-US" sz="1300" spc="-1" strike="noStrike">
              <a:solidFill>
                <a:srgbClr val="000000"/>
              </a:solidFill>
              <a:latin typeface="Arial"/>
            </a:endParaRPr>
          </a:p>
        </p:txBody>
      </p:sp>
      <p:sp>
        <p:nvSpPr>
          <p:cNvPr id="204" name="TextBox 2"/>
          <p:cNvSpPr/>
          <p:nvPr/>
        </p:nvSpPr>
        <p:spPr>
          <a:xfrm>
            <a:off x="822960" y="1097280"/>
            <a:ext cx="10515240" cy="54900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3600" spc="-1" strike="noStrike">
                <a:solidFill>
                  <a:srgbClr val="0c5341"/>
                </a:solidFill>
                <a:latin typeface="Kanit"/>
              </a:rPr>
              <a:t>Built in a weekend. Ready for any city.</a:t>
            </a:r>
            <a:endParaRPr b="0" lang="en-US" sz="3600" spc="-1" strike="noStrike">
              <a:solidFill>
                <a:srgbClr val="000000"/>
              </a:solidFill>
              <a:latin typeface="Arial"/>
            </a:endParaRPr>
          </a:p>
        </p:txBody>
      </p:sp>
      <p:sp>
        <p:nvSpPr>
          <p:cNvPr id="205" name="Rounded Rectangle 3"/>
          <p:cNvSpPr/>
          <p:nvPr/>
        </p:nvSpPr>
        <p:spPr>
          <a:xfrm>
            <a:off x="822960" y="2331720"/>
            <a:ext cx="5143320" cy="3565800"/>
          </a:xfrm>
          <a:prstGeom prst="roundRect">
            <a:avLst>
              <a:gd name="adj" fmla="val 7000"/>
            </a:avLst>
          </a:prstGeom>
          <a:solidFill>
            <a:srgbClr val="fffbf3"/>
          </a:solidFill>
          <a:ln w="12700">
            <a:solidFill>
              <a:srgbClr val="e6d6bc"/>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06" name="TextBox 4"/>
          <p:cNvSpPr/>
          <p:nvPr/>
        </p:nvSpPr>
        <p:spPr>
          <a:xfrm>
            <a:off x="1188720" y="2651760"/>
            <a:ext cx="4411800" cy="3661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2400" spc="-1" strike="noStrike">
                <a:solidFill>
                  <a:srgbClr val="0c5341"/>
                </a:solidFill>
                <a:latin typeface="Kanit"/>
              </a:rPr>
              <a:t>The team of six</a:t>
            </a:r>
            <a:endParaRPr b="0" lang="en-US" sz="2400" spc="-1" strike="noStrike">
              <a:solidFill>
                <a:srgbClr val="000000"/>
              </a:solidFill>
              <a:latin typeface="Arial"/>
            </a:endParaRPr>
          </a:p>
        </p:txBody>
      </p:sp>
      <p:sp>
        <p:nvSpPr>
          <p:cNvPr id="207" name="Oval 5"/>
          <p:cNvSpPr/>
          <p:nvPr/>
        </p:nvSpPr>
        <p:spPr>
          <a:xfrm>
            <a:off x="1188720" y="3383280"/>
            <a:ext cx="383760" cy="383760"/>
          </a:xfrm>
          <a:prstGeom prst="ellipse">
            <a:avLst/>
          </a:prstGeom>
          <a:solidFill>
            <a:srgbClr val="fcaa1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08" name="TextBox 6"/>
          <p:cNvSpPr/>
          <p:nvPr/>
        </p:nvSpPr>
        <p:spPr>
          <a:xfrm>
            <a:off x="1691640" y="3337560"/>
            <a:ext cx="1828440" cy="396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500" spc="-1" strike="noStrike">
                <a:solidFill>
                  <a:srgbClr val="0c5341"/>
                </a:solidFill>
                <a:latin typeface="Kanit"/>
              </a:rPr>
              <a:t>Antoinette</a:t>
            </a:r>
            <a:endParaRPr b="0" lang="en-US" sz="1500" spc="-1" strike="noStrike">
              <a:solidFill>
                <a:srgbClr val="000000"/>
              </a:solidFill>
              <a:latin typeface="Arial"/>
            </a:endParaRPr>
          </a:p>
          <a:p>
            <a:pPr>
              <a:lnSpc>
                <a:spcPct val="100000"/>
              </a:lnSpc>
            </a:pPr>
            <a:endParaRPr b="0" lang="en-US" sz="1100" spc="-1" strike="noStrike">
              <a:solidFill>
                <a:srgbClr val="000000"/>
              </a:solidFill>
              <a:latin typeface="Arial"/>
            </a:endParaRPr>
          </a:p>
        </p:txBody>
      </p:sp>
      <p:sp>
        <p:nvSpPr>
          <p:cNvPr id="209" name="Oval 7"/>
          <p:cNvSpPr/>
          <p:nvPr/>
        </p:nvSpPr>
        <p:spPr>
          <a:xfrm>
            <a:off x="3566160" y="3383280"/>
            <a:ext cx="383760" cy="383760"/>
          </a:xfrm>
          <a:prstGeom prst="ellipse">
            <a:avLst/>
          </a:prstGeom>
          <a:solidFill>
            <a:srgbClr val="19887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10" name="TextBox 8"/>
          <p:cNvSpPr/>
          <p:nvPr/>
        </p:nvSpPr>
        <p:spPr>
          <a:xfrm>
            <a:off x="4069080" y="3337560"/>
            <a:ext cx="1828440" cy="396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500" spc="-1" strike="noStrike">
                <a:solidFill>
                  <a:srgbClr val="0c5341"/>
                </a:solidFill>
                <a:latin typeface="Kanit"/>
              </a:rPr>
              <a:t>Lutz</a:t>
            </a:r>
            <a:endParaRPr b="0" lang="en-US" sz="1500" spc="-1" strike="noStrike">
              <a:solidFill>
                <a:srgbClr val="000000"/>
              </a:solidFill>
              <a:latin typeface="Arial"/>
            </a:endParaRPr>
          </a:p>
          <a:p>
            <a:pPr>
              <a:lnSpc>
                <a:spcPct val="100000"/>
              </a:lnSpc>
            </a:pPr>
            <a:endParaRPr b="0" lang="en-US" sz="1100" spc="-1" strike="noStrike">
              <a:solidFill>
                <a:srgbClr val="000000"/>
              </a:solidFill>
              <a:latin typeface="Arial"/>
            </a:endParaRPr>
          </a:p>
        </p:txBody>
      </p:sp>
      <p:sp>
        <p:nvSpPr>
          <p:cNvPr id="211" name="Oval 9"/>
          <p:cNvSpPr/>
          <p:nvPr/>
        </p:nvSpPr>
        <p:spPr>
          <a:xfrm>
            <a:off x="1188720" y="4160520"/>
            <a:ext cx="383760" cy="383760"/>
          </a:xfrm>
          <a:prstGeom prst="ellipse">
            <a:avLst/>
          </a:prstGeom>
          <a:solidFill>
            <a:srgbClr val="fcaa1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12" name="TextBox 10"/>
          <p:cNvSpPr/>
          <p:nvPr/>
        </p:nvSpPr>
        <p:spPr>
          <a:xfrm>
            <a:off x="1691640" y="4114800"/>
            <a:ext cx="1828440" cy="396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500" spc="-1" strike="noStrike">
                <a:solidFill>
                  <a:srgbClr val="0c5341"/>
                </a:solidFill>
                <a:latin typeface="Kanit"/>
              </a:rPr>
              <a:t>Shivam</a:t>
            </a:r>
            <a:endParaRPr b="0" lang="en-US" sz="1500" spc="-1" strike="noStrike">
              <a:solidFill>
                <a:srgbClr val="000000"/>
              </a:solidFill>
              <a:latin typeface="Arial"/>
            </a:endParaRPr>
          </a:p>
          <a:p>
            <a:pPr>
              <a:lnSpc>
                <a:spcPct val="100000"/>
              </a:lnSpc>
            </a:pPr>
            <a:endParaRPr b="0" lang="en-US" sz="1100" spc="-1" strike="noStrike">
              <a:solidFill>
                <a:srgbClr val="000000"/>
              </a:solidFill>
              <a:latin typeface="Arial"/>
            </a:endParaRPr>
          </a:p>
        </p:txBody>
      </p:sp>
      <p:sp>
        <p:nvSpPr>
          <p:cNvPr id="213" name="Oval 11"/>
          <p:cNvSpPr/>
          <p:nvPr/>
        </p:nvSpPr>
        <p:spPr>
          <a:xfrm>
            <a:off x="3566160" y="4160520"/>
            <a:ext cx="383760" cy="383760"/>
          </a:xfrm>
          <a:prstGeom prst="ellipse">
            <a:avLst/>
          </a:prstGeom>
          <a:solidFill>
            <a:srgbClr val="19887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14" name="TextBox 12"/>
          <p:cNvSpPr/>
          <p:nvPr/>
        </p:nvSpPr>
        <p:spPr>
          <a:xfrm>
            <a:off x="4069080" y="4114800"/>
            <a:ext cx="1828440" cy="396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500" spc="-1" strike="noStrike">
                <a:solidFill>
                  <a:srgbClr val="0c5341"/>
                </a:solidFill>
                <a:latin typeface="Kanit"/>
              </a:rPr>
              <a:t>Richard</a:t>
            </a:r>
            <a:endParaRPr b="0" lang="en-US" sz="1500" spc="-1" strike="noStrike">
              <a:solidFill>
                <a:srgbClr val="000000"/>
              </a:solidFill>
              <a:latin typeface="Arial"/>
            </a:endParaRPr>
          </a:p>
          <a:p>
            <a:pPr>
              <a:lnSpc>
                <a:spcPct val="100000"/>
              </a:lnSpc>
            </a:pPr>
            <a:endParaRPr b="0" lang="en-US" sz="1100" spc="-1" strike="noStrike">
              <a:solidFill>
                <a:srgbClr val="000000"/>
              </a:solidFill>
              <a:latin typeface="Arial"/>
            </a:endParaRPr>
          </a:p>
        </p:txBody>
      </p:sp>
      <p:sp>
        <p:nvSpPr>
          <p:cNvPr id="215" name="Oval 13"/>
          <p:cNvSpPr/>
          <p:nvPr/>
        </p:nvSpPr>
        <p:spPr>
          <a:xfrm>
            <a:off x="1188720" y="4937760"/>
            <a:ext cx="383760" cy="383760"/>
          </a:xfrm>
          <a:prstGeom prst="ellipse">
            <a:avLst/>
          </a:prstGeom>
          <a:solidFill>
            <a:srgbClr val="fcaa16"/>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16" name="TextBox 14"/>
          <p:cNvSpPr/>
          <p:nvPr/>
        </p:nvSpPr>
        <p:spPr>
          <a:xfrm>
            <a:off x="1691640" y="4892040"/>
            <a:ext cx="1828440" cy="396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500" spc="-1" strike="noStrike">
                <a:solidFill>
                  <a:srgbClr val="0c5341"/>
                </a:solidFill>
                <a:latin typeface="Kanit"/>
              </a:rPr>
              <a:t>Oleg</a:t>
            </a:r>
            <a:endParaRPr b="0" lang="en-US" sz="1500" spc="-1" strike="noStrike">
              <a:solidFill>
                <a:srgbClr val="000000"/>
              </a:solidFill>
              <a:latin typeface="Arial"/>
            </a:endParaRPr>
          </a:p>
          <a:p>
            <a:pPr>
              <a:lnSpc>
                <a:spcPct val="100000"/>
              </a:lnSpc>
            </a:pPr>
            <a:r>
              <a:rPr b="0" lang="en-US" sz="1100" spc="-1" strike="noStrike">
                <a:solidFill>
                  <a:srgbClr val="4d5048"/>
                </a:solidFill>
                <a:latin typeface="Sarabun"/>
              </a:rPr>
              <a:t>Web app</a:t>
            </a:r>
            <a:endParaRPr b="0" lang="en-US" sz="1100" spc="-1" strike="noStrike">
              <a:solidFill>
                <a:srgbClr val="000000"/>
              </a:solidFill>
              <a:latin typeface="Arial"/>
            </a:endParaRPr>
          </a:p>
        </p:txBody>
      </p:sp>
      <p:sp>
        <p:nvSpPr>
          <p:cNvPr id="217" name="Oval 15"/>
          <p:cNvSpPr/>
          <p:nvPr/>
        </p:nvSpPr>
        <p:spPr>
          <a:xfrm>
            <a:off x="3566160" y="4937760"/>
            <a:ext cx="383760" cy="383760"/>
          </a:xfrm>
          <a:prstGeom prst="ellipse">
            <a:avLst/>
          </a:prstGeom>
          <a:solidFill>
            <a:srgbClr val="19887f"/>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18" name="TextBox 16"/>
          <p:cNvSpPr/>
          <p:nvPr/>
        </p:nvSpPr>
        <p:spPr>
          <a:xfrm>
            <a:off x="4069080" y="4892040"/>
            <a:ext cx="1828440" cy="3967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1500" spc="-1" strike="noStrike">
                <a:solidFill>
                  <a:srgbClr val="0c5341"/>
                </a:solidFill>
                <a:latin typeface="Kanit"/>
              </a:rPr>
              <a:t>Marc</a:t>
            </a:r>
            <a:endParaRPr b="0" lang="en-US" sz="1500" spc="-1" strike="noStrike">
              <a:solidFill>
                <a:srgbClr val="000000"/>
              </a:solidFill>
              <a:latin typeface="Arial"/>
            </a:endParaRPr>
          </a:p>
          <a:p>
            <a:pPr>
              <a:lnSpc>
                <a:spcPct val="100000"/>
              </a:lnSpc>
            </a:pPr>
            <a:endParaRPr b="0" lang="en-US" sz="1100" spc="-1" strike="noStrike">
              <a:solidFill>
                <a:srgbClr val="000000"/>
              </a:solidFill>
              <a:latin typeface="Arial"/>
            </a:endParaRPr>
          </a:p>
        </p:txBody>
      </p:sp>
      <p:sp>
        <p:nvSpPr>
          <p:cNvPr id="219" name="Rounded Rectangle 17"/>
          <p:cNvSpPr/>
          <p:nvPr/>
        </p:nvSpPr>
        <p:spPr>
          <a:xfrm>
            <a:off x="6240960" y="2331720"/>
            <a:ext cx="5143320" cy="3565800"/>
          </a:xfrm>
          <a:prstGeom prst="roundRect">
            <a:avLst>
              <a:gd name="adj" fmla="val 7000"/>
            </a:avLst>
          </a:prstGeom>
          <a:solidFill>
            <a:srgbClr val="fffbf3"/>
          </a:solidFill>
          <a:ln w="12700">
            <a:solidFill>
              <a:srgbClr val="e6d6bc"/>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a:lnSpc>
                <a:spcPct val="100000"/>
              </a:lnSpc>
            </a:pPr>
            <a:endParaRPr b="0" lang="en-US" sz="1800" spc="-1" strike="noStrike">
              <a:solidFill>
                <a:schemeClr val="lt1"/>
              </a:solidFill>
              <a:latin typeface="Calibri"/>
            </a:endParaRPr>
          </a:p>
        </p:txBody>
      </p:sp>
      <p:sp>
        <p:nvSpPr>
          <p:cNvPr id="220" name="TextBox 18"/>
          <p:cNvSpPr/>
          <p:nvPr/>
        </p:nvSpPr>
        <p:spPr>
          <a:xfrm>
            <a:off x="6606720" y="2651760"/>
            <a:ext cx="4411800" cy="366120"/>
          </a:xfrm>
          <a:prstGeom prst="rect">
            <a:avLst/>
          </a:prstGeom>
          <a:noFill/>
          <a:ln w="0">
            <a:noFill/>
          </a:ln>
        </p:spPr>
        <p:style>
          <a:lnRef idx="0"/>
          <a:fillRef idx="0"/>
          <a:effectRef idx="0"/>
          <a:fontRef idx="minor"/>
        </p:style>
        <p:txBody>
          <a:bodyPr lIns="0" rIns="0" tIns="0" bIns="0" anchor="t">
            <a:spAutoFit/>
          </a:bodyPr>
          <a:p>
            <a:pPr>
              <a:lnSpc>
                <a:spcPct val="100000"/>
              </a:lnSpc>
            </a:pPr>
            <a:r>
              <a:rPr b="1" lang="en-US" sz="2400" spc="-1" strike="noStrike">
                <a:solidFill>
                  <a:srgbClr val="0c5341"/>
                </a:solidFill>
                <a:latin typeface="Kanit"/>
              </a:rPr>
              <a:t>Ready for any city</a:t>
            </a:r>
            <a:endParaRPr b="0" lang="en-US" sz="2400" spc="-1" strike="noStrike">
              <a:solidFill>
                <a:srgbClr val="000000"/>
              </a:solidFill>
              <a:latin typeface="Arial"/>
            </a:endParaRPr>
          </a:p>
        </p:txBody>
      </p:sp>
      <p:sp>
        <p:nvSpPr>
          <p:cNvPr id="221" name="TextBox 19"/>
          <p:cNvSpPr/>
          <p:nvPr/>
        </p:nvSpPr>
        <p:spPr>
          <a:xfrm>
            <a:off x="6606720" y="3337560"/>
            <a:ext cx="4411800" cy="686160"/>
          </a:xfrm>
          <a:prstGeom prst="rect">
            <a:avLst/>
          </a:prstGeom>
          <a:noFill/>
          <a:ln w="0">
            <a:noFill/>
          </a:ln>
        </p:spPr>
        <p:style>
          <a:lnRef idx="0"/>
          <a:fillRef idx="0"/>
          <a:effectRef idx="0"/>
          <a:fontRef idx="minor"/>
        </p:style>
        <p:txBody>
          <a:bodyPr lIns="0" rIns="0" tIns="0" bIns="0" anchor="t">
            <a:spAutoFit/>
          </a:bodyPr>
          <a:p>
            <a:pPr>
              <a:lnSpc>
                <a:spcPct val="100000"/>
              </a:lnSpc>
            </a:pPr>
            <a:r>
              <a:rPr b="0" lang="en-US" sz="1500" spc="-1" strike="noStrike">
                <a:solidFill>
                  <a:srgbClr val="4d5048"/>
                </a:solidFill>
                <a:latin typeface="Sarabun"/>
              </a:rPr>
              <a:t>Self-hosted and public on GitHub. Bali, Lisbon, Medellín, Tokyo: any city where locals and newcomers want to meet can run its own.</a:t>
            </a:r>
            <a:endParaRPr b="0" lang="en-US" sz="1500" spc="-1" strike="noStrike">
              <a:solidFill>
                <a:srgbClr val="000000"/>
              </a:solidFill>
              <a:latin typeface="Arial"/>
            </a:endParaRPr>
          </a:p>
        </p:txBody>
      </p:sp>
      <p:sp>
        <p:nvSpPr>
          <p:cNvPr id="222" name="Rounded Rectangle 20"/>
          <p:cNvSpPr/>
          <p:nvPr/>
        </p:nvSpPr>
        <p:spPr>
          <a:xfrm>
            <a:off x="6606720" y="4846320"/>
            <a:ext cx="4411800" cy="566640"/>
          </a:xfrm>
          <a:prstGeom prst="roundRect">
            <a:avLst>
              <a:gd name="adj" fmla="val 50000"/>
            </a:avLst>
          </a:prstGeom>
          <a:solidFill>
            <a:srgbClr val="cde9e4"/>
          </a:solidFill>
          <a:ln>
            <a:noFill/>
          </a:ln>
        </p:spPr>
        <p:style>
          <a:lnRef idx="1">
            <a:schemeClr val="accent1"/>
          </a:lnRef>
          <a:fillRef idx="3">
            <a:schemeClr val="accent1"/>
          </a:fillRef>
          <a:effectRef idx="2">
            <a:schemeClr val="accent1"/>
          </a:effectRef>
          <a:fontRef idx="minor"/>
        </p:style>
        <p:txBody>
          <a:bodyPr wrap="none" lIns="137160" rIns="90000" tIns="45000" bIns="45000" anchor="ctr">
            <a:noAutofit/>
          </a:bodyPr>
          <a:p>
            <a:pPr algn="ctr">
              <a:lnSpc>
                <a:spcPct val="100000"/>
              </a:lnSpc>
            </a:pPr>
            <a:r>
              <a:rPr b="1" lang="en-US" sz="1200" spc="-1" strike="noStrike" u="sng">
                <a:solidFill>
                  <a:srgbClr val="0563c1"/>
                </a:solidFill>
                <a:uFillTx/>
                <a:latin typeface="Sarabun"/>
                <a:hlinkClick r:id="rId1"/>
              </a:rPr>
              <a:t>github.com/richardmthompson/bpai-duay-gan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c5341"/>
        </a:solidFill>
      </p:bgPr>
    </p:bg>
    <p:spTree>
      <p:nvGrpSpPr>
        <p:cNvPr id="1" name=""/>
        <p:cNvGrpSpPr/>
        <p:nvPr/>
      </p:nvGrpSpPr>
      <p:grpSpPr>
        <a:xfrm>
          <a:off x="0" y="0"/>
          <a:ext cx="0" cy="0"/>
          <a:chOff x="0" y="0"/>
          <a:chExt cx="0" cy="0"/>
        </a:xfrm>
      </p:grpSpPr>
      <p:pic>
        <p:nvPicPr>
          <p:cNvPr id="223" name="Picture 201" descr="Bpai Duay Gan woven logo mark"/>
          <p:cNvPicPr/>
          <p:nvPr/>
        </p:nvPicPr>
        <p:blipFill>
          <a:blip r:embed="rId1"/>
          <a:stretch/>
        </p:blipFill>
        <p:spPr>
          <a:xfrm>
            <a:off x="5318640" y="502920"/>
            <a:ext cx="1554120" cy="1554120"/>
          </a:xfrm>
          <a:prstGeom prst="rect">
            <a:avLst/>
          </a:prstGeom>
          <a:ln w="0">
            <a:noFill/>
          </a:ln>
        </p:spPr>
      </p:pic>
      <p:sp>
        <p:nvSpPr>
          <p:cNvPr id="224" name="Text 0"/>
          <p:cNvSpPr/>
          <p:nvPr/>
        </p:nvSpPr>
        <p:spPr>
          <a:xfrm>
            <a:off x="3480840" y="2103120"/>
            <a:ext cx="5230080" cy="1279800"/>
          </a:xfrm>
          <a:prstGeom prst="rect">
            <a:avLst/>
          </a:prstGeom>
          <a:noFill/>
          <a:ln w="0">
            <a:noFill/>
          </a:ln>
        </p:spPr>
        <p:style>
          <a:lnRef idx="0"/>
          <a:fillRef idx="0"/>
          <a:effectRef idx="0"/>
          <a:fontRef idx="minor"/>
        </p:style>
        <p:txBody>
          <a:bodyPr lIns="0" rIns="0" tIns="0" bIns="0" anchor="t">
            <a:normAutofit/>
          </a:bodyPr>
          <a:p>
            <a:pPr algn="ctr" defTabSz="914400">
              <a:lnSpc>
                <a:spcPts val="7339"/>
              </a:lnSpc>
              <a:tabLst>
                <a:tab algn="l" pos="0"/>
              </a:tabLst>
            </a:pPr>
            <a:r>
              <a:rPr b="1" lang="hi-IN" sz="6669" spc="-1" strike="noStrike">
                <a:solidFill>
                  <a:srgbClr val="fcaa16"/>
                </a:solidFill>
                <a:latin typeface="Kanit"/>
                <a:cs typeface="Kanit"/>
              </a:rPr>
              <a:t>ไปด้วยกัน</a:t>
            </a:r>
            <a:endParaRPr b="0" lang="en-US" sz="6669" spc="-1" strike="noStrike">
              <a:solidFill>
                <a:srgbClr val="ffffff"/>
              </a:solidFill>
              <a:latin typeface="Arial"/>
            </a:endParaRPr>
          </a:p>
        </p:txBody>
      </p:sp>
      <p:sp>
        <p:nvSpPr>
          <p:cNvPr id="225" name="Text 1"/>
          <p:cNvSpPr/>
          <p:nvPr/>
        </p:nvSpPr>
        <p:spPr>
          <a:xfrm>
            <a:off x="4106880" y="4709160"/>
            <a:ext cx="3977280" cy="685440"/>
          </a:xfrm>
          <a:prstGeom prst="rect">
            <a:avLst/>
          </a:prstGeom>
          <a:noFill/>
          <a:ln w="0">
            <a:noFill/>
          </a:ln>
        </p:spPr>
        <p:style>
          <a:lnRef idx="0"/>
          <a:fillRef idx="0"/>
          <a:effectRef idx="0"/>
          <a:fontRef idx="minor"/>
        </p:style>
        <p:txBody>
          <a:bodyPr lIns="0" rIns="0" tIns="0" bIns="0" anchor="t">
            <a:normAutofit/>
          </a:bodyPr>
          <a:p>
            <a:pPr algn="ctr" defTabSz="914400">
              <a:lnSpc>
                <a:spcPts val="3747"/>
              </a:lnSpc>
              <a:tabLst>
                <a:tab algn="l" pos="0"/>
              </a:tabLst>
            </a:pPr>
            <a:r>
              <a:rPr b="0" lang="en-US" sz="2680" spc="-1" strike="noStrike">
                <a:solidFill>
                  <a:srgbClr val="f7eedf"/>
                </a:solidFill>
                <a:latin typeface="Kanit"/>
                <a:ea typeface="Kanit"/>
              </a:rPr>
              <a:t>Let's go together.</a:t>
            </a:r>
            <a:endParaRPr b="0" lang="en-US" sz="2680" spc="-1" strike="noStrike">
              <a:solidFill>
                <a:srgbClr val="ffffff"/>
              </a:solidFill>
              <a:latin typeface="Arial"/>
            </a:endParaRPr>
          </a:p>
        </p:txBody>
      </p:sp>
      <p:sp>
        <p:nvSpPr>
          <p:cNvPr id="226" name="Text 2"/>
          <p:cNvSpPr/>
          <p:nvPr/>
        </p:nvSpPr>
        <p:spPr>
          <a:xfrm>
            <a:off x="4472640" y="5532120"/>
            <a:ext cx="3245760" cy="456840"/>
          </a:xfrm>
          <a:prstGeom prst="rect">
            <a:avLst/>
          </a:prstGeom>
          <a:noFill/>
          <a:ln w="0">
            <a:noFill/>
          </a:ln>
        </p:spPr>
        <p:style>
          <a:lnRef idx="0"/>
          <a:fillRef idx="0"/>
          <a:effectRef idx="0"/>
          <a:fontRef idx="minor"/>
        </p:style>
        <p:txBody>
          <a:bodyPr lIns="0" rIns="0" tIns="0" bIns="0" anchor="t">
            <a:normAutofit/>
          </a:bodyPr>
          <a:p>
            <a:pPr algn="ctr" defTabSz="914400">
              <a:lnSpc>
                <a:spcPts val="2409"/>
              </a:lnSpc>
              <a:tabLst>
                <a:tab algn="l" pos="0"/>
              </a:tabLst>
            </a:pPr>
            <a:r>
              <a:rPr b="0" lang="hi-IN" sz="1720" spc="-1" strike="noStrike">
                <a:solidFill>
                  <a:srgbClr val="cfe3dc"/>
                </a:solidFill>
                <a:latin typeface="Sarabun"/>
                <a:cs typeface="Sarabun"/>
              </a:rPr>
              <a:t>ขอบคุณค่ะ </a:t>
            </a:r>
            <a:r>
              <a:rPr b="0" lang="en-US" sz="1720" spc="-1" strike="noStrike">
                <a:solidFill>
                  <a:srgbClr val="cfe3dc"/>
                </a:solidFill>
                <a:latin typeface="Sarabun"/>
                <a:ea typeface="Sarabun"/>
              </a:rPr>
              <a:t>· Thank you</a:t>
            </a:r>
            <a:endParaRPr b="0" lang="en-US" sz="1720" spc="-1" strike="noStrike">
              <a:solidFill>
                <a:srgbClr val="ffffff"/>
              </a:solidFill>
              <a:latin typeface="Arial"/>
            </a:endParaRPr>
          </a:p>
        </p:txBody>
      </p:sp>
      <p:sp>
        <p:nvSpPr>
          <p:cNvPr id="227" name="TextBox 202"/>
          <p:cNvSpPr/>
          <p:nvPr/>
        </p:nvSpPr>
        <p:spPr>
          <a:xfrm>
            <a:off x="1737360" y="3611880"/>
            <a:ext cx="8686440" cy="82116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0" i="1" lang="en-US" sz="2400" spc="-1" strike="noStrike">
                <a:solidFill>
                  <a:srgbClr val="f7eedf"/>
                </a:solidFill>
                <a:latin typeface="Kanit"/>
              </a:rPr>
              <a:t>"If you want to go fast, go alone.</a:t>
            </a:r>
            <a:endParaRPr b="0" lang="en-US" sz="2400" spc="-1" strike="noStrike">
              <a:solidFill>
                <a:srgbClr val="ffffff"/>
              </a:solidFill>
              <a:latin typeface="Arial"/>
            </a:endParaRPr>
          </a:p>
          <a:p>
            <a:pPr algn="ctr">
              <a:lnSpc>
                <a:spcPct val="100000"/>
              </a:lnSpc>
            </a:pPr>
            <a:r>
              <a:rPr b="0" i="1" lang="en-US" sz="2400" spc="-1" strike="noStrike">
                <a:solidFill>
                  <a:srgbClr val="f7eedf"/>
                </a:solidFill>
                <a:latin typeface="Kanit"/>
              </a:rPr>
              <a:t>If you want to go far, go together."</a:t>
            </a:r>
            <a:endParaRPr b="0" lang="en-US" sz="2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72</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2026-09-27T04:42:27Z</dcterms:created>
  <dc:creator>PptxGenJS</dc:creator>
  <dc:description/>
  <dc:language>en-US</dc:language>
  <cp:lastModifiedBy/>
  <dcterms:modified xsi:type="dcterms:W3CDTF">2026-09-27T14:43:08Z</dcterms:modified>
  <cp:revision>3</cp:revision>
  <dc:subject>PptxGenJS Presentation</dc:subject>
  <dc:title>Bpai Duay Gan Pitch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(16:9)</vt:lpwstr>
  </property>
  <property fmtid="{D5CDD505-2E9C-101B-9397-08002B2CF9AE}" pid="4" name="Slides">
    <vt:i4>13</vt:i4>
  </property>
</Properties>
</file>